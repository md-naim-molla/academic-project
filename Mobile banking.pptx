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8" r:id="rId2"/>
    <p:sldId id="552" r:id="rId3"/>
    <p:sldId id="551" r:id="rId4"/>
    <p:sldId id="260" r:id="rId5"/>
    <p:sldId id="259" r:id="rId6"/>
    <p:sldId id="553" r:id="rId7"/>
    <p:sldId id="261" r:id="rId8"/>
    <p:sldId id="554" r:id="rId9"/>
    <p:sldId id="555" r:id="rId10"/>
    <p:sldId id="556" r:id="rId11"/>
    <p:sldId id="557" r:id="rId12"/>
    <p:sldId id="558" r:id="rId13"/>
    <p:sldId id="559" r:id="rId14"/>
    <p:sldId id="560" r:id="rId15"/>
    <p:sldId id="561"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3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34795D-9D80-443B-9D3C-10C39A2F6DAC}" type="datetimeFigureOut">
              <a:rPr lang="en-US" smtClean="0"/>
              <a:t>11/25/2024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C0E196-6105-4145-9545-00D5606A21ED}" type="slidenum">
              <a:rPr lang="en-US" smtClean="0"/>
              <a:t>‹#›</a:t>
            </a:fld>
            <a:endParaRPr lang="en-US"/>
          </a:p>
        </p:txBody>
      </p:sp>
    </p:spTree>
    <p:extLst>
      <p:ext uri="{BB962C8B-B14F-4D97-AF65-F5344CB8AC3E}">
        <p14:creationId xmlns:p14="http://schemas.microsoft.com/office/powerpoint/2010/main" val="1525061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7A2B56-DB90-4F92-A3FA-6D097AB8CE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65747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734DB-8273-83F2-B645-D1D650D800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B2F35F-BC0D-9EF0-6AA5-02A6CCEAE7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57CB75-6F2B-E1E0-66C4-344129EFEF44}"/>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5" name="Footer Placeholder 4">
            <a:extLst>
              <a:ext uri="{FF2B5EF4-FFF2-40B4-BE49-F238E27FC236}">
                <a16:creationId xmlns:a16="http://schemas.microsoft.com/office/drawing/2014/main" id="{D1211311-1967-AD30-ED33-D4E4535DAE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DED08-CFED-1F78-1764-5EE13806ADE2}"/>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369263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E01FD-BE4D-4822-58AB-490A4AC3CB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C8D63E-D000-6DE7-A952-8469720B97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ADCAB0-DC55-AC02-CD76-070B3A8BC075}"/>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5" name="Footer Placeholder 4">
            <a:extLst>
              <a:ext uri="{FF2B5EF4-FFF2-40B4-BE49-F238E27FC236}">
                <a16:creationId xmlns:a16="http://schemas.microsoft.com/office/drawing/2014/main" id="{ADC850A3-2DB5-90F2-044E-B9AA5F2A50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0B41EF-584C-7FD3-FA21-B8FE3E6A4315}"/>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1554528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2FD8A-8507-F851-6059-2266566F43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3909EE-2475-4177-154C-6AE549E851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A00EE2-723B-8EEF-73F5-7EDAFFF2D7B5}"/>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5" name="Footer Placeholder 4">
            <a:extLst>
              <a:ext uri="{FF2B5EF4-FFF2-40B4-BE49-F238E27FC236}">
                <a16:creationId xmlns:a16="http://schemas.microsoft.com/office/drawing/2014/main" id="{0F3F7D51-4468-60EE-562E-925D5F1E06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7906AE-F7BA-48B2-28C3-334023C5ED0F}"/>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552529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06BEC-79E3-B1AA-6C32-FE482F8D36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EB5DD4-69BF-8ED4-D82A-CC5790FD38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8E19F1-FF58-4B4D-E6B4-541DDEFF65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ADBDD8-1A6B-0121-E6A1-A57A62DF377B}"/>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6" name="Footer Placeholder 5">
            <a:extLst>
              <a:ext uri="{FF2B5EF4-FFF2-40B4-BE49-F238E27FC236}">
                <a16:creationId xmlns:a16="http://schemas.microsoft.com/office/drawing/2014/main" id="{663A6295-368A-1637-558A-3DF7AA01E6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180DF7-6B4F-FB21-2882-87ABC9B704AF}"/>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92370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45C18-23D1-CBCB-3156-9EE2733237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4D6566-F40F-7EAD-D477-04F63B82E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01584C-B034-B4BD-82FA-3FD7D96F80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0306A1-8D50-023A-B74B-BAD79B6936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AF562F-D431-8A84-7D2E-606700D0C9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8FC3A6-3B29-E10E-EF68-7A97350E58D0}"/>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8" name="Footer Placeholder 7">
            <a:extLst>
              <a:ext uri="{FF2B5EF4-FFF2-40B4-BE49-F238E27FC236}">
                <a16:creationId xmlns:a16="http://schemas.microsoft.com/office/drawing/2014/main" id="{4E168563-DAB8-E9BF-18BD-7C04F0E772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2DD5D3-D317-3197-2839-CACBEFF58050}"/>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4209500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7B59-3F01-0A8E-4ABF-2FBFC1752F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2C1652-37DD-1A9C-81CE-F262E60C4545}"/>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4" name="Footer Placeholder 3">
            <a:extLst>
              <a:ext uri="{FF2B5EF4-FFF2-40B4-BE49-F238E27FC236}">
                <a16:creationId xmlns:a16="http://schemas.microsoft.com/office/drawing/2014/main" id="{27443A18-3B5A-2A4B-4AF1-FB1165652A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3547B5-A945-47A1-9DF9-BCD0F5C59D96}"/>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4272830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878DAB-2171-2F14-1F31-2607CF77DFF0}"/>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3" name="Footer Placeholder 2">
            <a:extLst>
              <a:ext uri="{FF2B5EF4-FFF2-40B4-BE49-F238E27FC236}">
                <a16:creationId xmlns:a16="http://schemas.microsoft.com/office/drawing/2014/main" id="{C068CA1A-8D29-C3D7-0045-232612F16C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464F8E-88EE-BF88-363E-CCB9675D466D}"/>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2090179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9F6FD-460F-D91A-ABCE-C58AE36D1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726298-AA80-97D4-9D6B-944006B219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1F7639-8E13-006D-A96C-7CC80A139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D648FA-071B-2F84-5663-869699ED39EA}"/>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6" name="Footer Placeholder 5">
            <a:extLst>
              <a:ext uri="{FF2B5EF4-FFF2-40B4-BE49-F238E27FC236}">
                <a16:creationId xmlns:a16="http://schemas.microsoft.com/office/drawing/2014/main" id="{D16955E5-EFAD-03B4-0B8C-AB36F2F631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4E9909-1D28-8556-8CB3-B0700E868FB3}"/>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4196580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CC34C-0AC5-CBF2-CC87-2E8FAF3836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A36D93-BA84-48A1-D056-B755302E71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B5AA53-02A3-8AA7-FD15-D0DBF90D7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BA7BDD-346E-D8C9-5F6F-EFFF3961358C}"/>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6" name="Footer Placeholder 5">
            <a:extLst>
              <a:ext uri="{FF2B5EF4-FFF2-40B4-BE49-F238E27FC236}">
                <a16:creationId xmlns:a16="http://schemas.microsoft.com/office/drawing/2014/main" id="{16E8D5BD-F7B6-04C9-DF54-70C1C1B9CD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E0A6EB-FD0C-4A95-3E77-989F422AB809}"/>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819324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C4F37-CC52-403C-F577-F352159D8B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FBD8A2-D52D-1AB8-7D6A-86625AF39F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9932CB-F8CA-5EF7-2136-B72F75F8FEB4}"/>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5" name="Footer Placeholder 4">
            <a:extLst>
              <a:ext uri="{FF2B5EF4-FFF2-40B4-BE49-F238E27FC236}">
                <a16:creationId xmlns:a16="http://schemas.microsoft.com/office/drawing/2014/main" id="{A0BE4710-E82B-6E81-5EB2-CF919A7A59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658D06-882B-D91A-1515-01A90811335E}"/>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4233527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980DC8-6AA2-FC0F-7006-E49556B3E4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85106C-09E0-FCED-E2A3-D3C8AF1ABF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42E004-475F-9EE9-A91B-8E51F7C80654}"/>
              </a:ext>
            </a:extLst>
          </p:cNvPr>
          <p:cNvSpPr>
            <a:spLocks noGrp="1"/>
          </p:cNvSpPr>
          <p:nvPr>
            <p:ph type="dt" sz="half" idx="10"/>
          </p:nvPr>
        </p:nvSpPr>
        <p:spPr/>
        <p:txBody>
          <a:bodyPr/>
          <a:lstStyle/>
          <a:p>
            <a:fld id="{D9978713-1F41-4C7E-8AB4-414C3D95B90F}" type="datetimeFigureOut">
              <a:rPr lang="en-US" smtClean="0"/>
              <a:t>11/25/2024</a:t>
            </a:fld>
            <a:endParaRPr lang="en-US"/>
          </a:p>
        </p:txBody>
      </p:sp>
      <p:sp>
        <p:nvSpPr>
          <p:cNvPr id="5" name="Footer Placeholder 4">
            <a:extLst>
              <a:ext uri="{FF2B5EF4-FFF2-40B4-BE49-F238E27FC236}">
                <a16:creationId xmlns:a16="http://schemas.microsoft.com/office/drawing/2014/main" id="{82F76341-4935-F55F-9BB0-FFB697EC5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3B7B4D-5FB3-58E2-BCD9-BC8C0181724D}"/>
              </a:ext>
            </a:extLst>
          </p:cNvPr>
          <p:cNvSpPr>
            <a:spLocks noGrp="1"/>
          </p:cNvSpPr>
          <p:nvPr>
            <p:ph type="sldNum" sz="quarter" idx="12"/>
          </p:nvPr>
        </p:nvSpPr>
        <p:spPr/>
        <p:txBody>
          <a:bodyPr/>
          <a:lstStyle/>
          <a:p>
            <a:fld id="{D2702FCE-0582-4837-975F-9F4938A1BDC0}" type="slidenum">
              <a:rPr lang="en-US" smtClean="0"/>
              <a:t>‹#›</a:t>
            </a:fld>
            <a:endParaRPr lang="en-US"/>
          </a:p>
        </p:txBody>
      </p:sp>
    </p:spTree>
    <p:extLst>
      <p:ext uri="{BB962C8B-B14F-4D97-AF65-F5344CB8AC3E}">
        <p14:creationId xmlns:p14="http://schemas.microsoft.com/office/powerpoint/2010/main" val="3361193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0" y="1959239"/>
            <a:ext cx="10885039" cy="1306159"/>
          </a:xfrm>
          <a:prstGeom prst="rect">
            <a:avLst/>
          </a:prstGeom>
        </p:spPr>
        <p:txBody>
          <a:bodyPr lIns="0" tIns="0" rIns="0" bIns="0" anchor="ctr">
            <a:noAutofit/>
          </a:bodyPr>
          <a:lstStyle/>
          <a:p>
            <a:pPr algn="ctr"/>
            <a:endParaRPr lang="en-GB" sz="3991" b="0" strike="noStrike" spc="-1">
              <a:solidFill>
                <a:srgbClr val="DD4100"/>
              </a:solidFill>
              <a:latin typeface="Arial"/>
            </a:endParaRPr>
          </a:p>
        </p:txBody>
      </p:sp>
      <p:sp>
        <p:nvSpPr>
          <p:cNvPr id="52" name="PlaceHolder 2"/>
          <p:cNvSpPr>
            <a:spLocks noGrp="1"/>
          </p:cNvSpPr>
          <p:nvPr>
            <p:ph type="body"/>
          </p:nvPr>
        </p:nvSpPr>
        <p:spPr>
          <a:xfrm>
            <a:off x="435402" y="3483090"/>
            <a:ext cx="11320441" cy="1959239"/>
          </a:xfrm>
          <a:prstGeom prst="rect">
            <a:avLst/>
          </a:prstGeom>
        </p:spPr>
        <p:txBody>
          <a:bodyPr lIns="0" tIns="0" rIns="0" bIns="0">
            <a:normAutofit/>
          </a:bodyPr>
          <a:lstStyle/>
          <a:p>
            <a:endParaRPr lang="en-GB" sz="2903" b="0" strike="noStrike" spc="-1">
              <a:solidFill>
                <a:srgbClr val="009BDD"/>
              </a:solidFill>
              <a:latin typeface="Arial"/>
            </a:endParaRPr>
          </a:p>
        </p:txBody>
      </p:sp>
    </p:spTree>
    <p:extLst>
      <p:ext uri="{BB962C8B-B14F-4D97-AF65-F5344CB8AC3E}">
        <p14:creationId xmlns:p14="http://schemas.microsoft.com/office/powerpoint/2010/main" val="2749032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F2E6B1-FA8C-CC15-30E3-3B3DECEF6D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5878BB-4CD4-5255-43F1-F442B6C238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8D9F6D-8EE1-8FA0-D6BE-374CF02A6C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8713-1F41-4C7E-8AB4-414C3D95B90F}" type="datetimeFigureOut">
              <a:rPr lang="en-US" smtClean="0"/>
              <a:t>11/25/2024</a:t>
            </a:fld>
            <a:endParaRPr lang="en-US"/>
          </a:p>
        </p:txBody>
      </p:sp>
      <p:sp>
        <p:nvSpPr>
          <p:cNvPr id="5" name="Footer Placeholder 4">
            <a:extLst>
              <a:ext uri="{FF2B5EF4-FFF2-40B4-BE49-F238E27FC236}">
                <a16:creationId xmlns:a16="http://schemas.microsoft.com/office/drawing/2014/main" id="{B5B523A5-E12C-D478-1D3A-D62BC5D3D9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B25D65-2D42-FF03-7A48-467719669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702FCE-0582-4837-975F-9F4938A1BDC0}" type="slidenum">
              <a:rPr lang="en-US" smtClean="0"/>
              <a:t>‹#›</a:t>
            </a:fld>
            <a:endParaRPr lang="en-US"/>
          </a:p>
        </p:txBody>
      </p:sp>
    </p:spTree>
    <p:extLst>
      <p:ext uri="{BB962C8B-B14F-4D97-AF65-F5344CB8AC3E}">
        <p14:creationId xmlns:p14="http://schemas.microsoft.com/office/powerpoint/2010/main" val="287997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Word_Document.docx"/><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package" Target="../embeddings/Microsoft_Word_Document1.docx"/><Relationship Id="rId1" Type="http://schemas.openxmlformats.org/officeDocument/2006/relationships/slideLayout" Target="../slideLayouts/slideLayout12.xml"/><Relationship Id="rId5" Type="http://schemas.openxmlformats.org/officeDocument/2006/relationships/image" Target="../media/image11.emf"/><Relationship Id="rId4" Type="http://schemas.openxmlformats.org/officeDocument/2006/relationships/package" Target="../embeddings/Microsoft_Word_Document2.docx"/></Relationships>
</file>

<file path=ppt/slides/_rels/slide1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package" Target="../embeddings/Microsoft_Word_Document3.docx"/><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package" Target="../embeddings/Microsoft_Word_Document4.docx"/><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E4399-7E1A-5CAB-DB12-C9E0EF11845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155C1B-18A4-8347-BD20-219C6D42D174}"/>
              </a:ext>
            </a:extLst>
          </p:cNvPr>
          <p:cNvSpPr txBox="1"/>
          <p:nvPr/>
        </p:nvSpPr>
        <p:spPr>
          <a:xfrm>
            <a:off x="1383030" y="21117"/>
            <a:ext cx="9326880" cy="1815882"/>
          </a:xfrm>
          <a:prstGeom prst="rect">
            <a:avLst/>
          </a:prstGeom>
          <a:solidFill>
            <a:schemeClr val="accent5">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US" dirty="0"/>
              <a:t>                                                                        </a:t>
            </a:r>
          </a:p>
          <a:p>
            <a:r>
              <a:rPr lang="en-US" dirty="0"/>
              <a:t>                                                                          </a:t>
            </a:r>
            <a:r>
              <a:rPr lang="en-US" sz="2400" b="1" dirty="0">
                <a:latin typeface="Times New Roman" panose="02020603050405020304" pitchFamily="18" charset="0"/>
                <a:cs typeface="Times New Roman" panose="02020603050405020304" pitchFamily="18" charset="0"/>
              </a:rPr>
              <a:t>Project Title</a:t>
            </a:r>
          </a:p>
          <a:p>
            <a:endParaRPr lang="en-US" dirty="0">
              <a:latin typeface="Times New Roman" panose="02020603050405020304" pitchFamily="18" charset="0"/>
              <a:cs typeface="Times New Roman" panose="02020603050405020304" pitchFamily="18" charset="0"/>
            </a:endParaRPr>
          </a:p>
          <a:p>
            <a:pPr algn="ctr"/>
            <a:r>
              <a:rPr lang="en-US" sz="2800" dirty="0">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Exploring the use of Mobile Banking satisfaction among students of University of Rajshahi</a:t>
            </a:r>
            <a:endParaRPr lang="en-US" sz="2700" b="1" dirty="0">
              <a:solidFill>
                <a:srgbClr val="00206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21C825E-1739-6502-2AB8-7689B6EE3BFF}"/>
              </a:ext>
            </a:extLst>
          </p:cNvPr>
          <p:cNvPicPr>
            <a:picLocks noChangeAspect="1"/>
          </p:cNvPicPr>
          <p:nvPr/>
        </p:nvPicPr>
        <p:blipFill>
          <a:blip r:embed="rId2"/>
          <a:stretch>
            <a:fillRect/>
          </a:stretch>
        </p:blipFill>
        <p:spPr>
          <a:xfrm>
            <a:off x="114893" y="210626"/>
            <a:ext cx="1144567" cy="1113050"/>
          </a:xfrm>
          <a:prstGeom prst="rect">
            <a:avLst/>
          </a:prstGeom>
        </p:spPr>
      </p:pic>
      <p:pic>
        <p:nvPicPr>
          <p:cNvPr id="4" name="Picture 3">
            <a:extLst>
              <a:ext uri="{FF2B5EF4-FFF2-40B4-BE49-F238E27FC236}">
                <a16:creationId xmlns:a16="http://schemas.microsoft.com/office/drawing/2014/main" id="{A6EEF663-D757-2F39-B1FB-E27A72CFCD51}"/>
              </a:ext>
            </a:extLst>
          </p:cNvPr>
          <p:cNvPicPr>
            <a:picLocks noChangeAspect="1"/>
          </p:cNvPicPr>
          <p:nvPr/>
        </p:nvPicPr>
        <p:blipFill>
          <a:blip r:embed="rId3"/>
          <a:stretch>
            <a:fillRect/>
          </a:stretch>
        </p:blipFill>
        <p:spPr>
          <a:xfrm>
            <a:off x="10833480" y="181590"/>
            <a:ext cx="1243627" cy="1230730"/>
          </a:xfrm>
          <a:prstGeom prst="rect">
            <a:avLst/>
          </a:prstGeom>
        </p:spPr>
      </p:pic>
      <p:sp>
        <p:nvSpPr>
          <p:cNvPr id="5" name="TextBox 4">
            <a:extLst>
              <a:ext uri="{FF2B5EF4-FFF2-40B4-BE49-F238E27FC236}">
                <a16:creationId xmlns:a16="http://schemas.microsoft.com/office/drawing/2014/main" id="{94FF21AD-CBFA-BB17-9B7A-0757008AE3EA}"/>
              </a:ext>
            </a:extLst>
          </p:cNvPr>
          <p:cNvSpPr txBox="1"/>
          <p:nvPr/>
        </p:nvSpPr>
        <p:spPr>
          <a:xfrm>
            <a:off x="22860" y="1848469"/>
            <a:ext cx="12134850" cy="4838953"/>
          </a:xfrm>
          <a:prstGeom prst="rect">
            <a:avLst/>
          </a:prstGeom>
          <a:noFill/>
          <a:ln w="28575">
            <a:noFill/>
          </a:ln>
        </p:spPr>
        <p:txBody>
          <a:bodyPr wrap="square" rtlCol="0">
            <a:spAutoFit/>
          </a:bodyPr>
          <a:lstStyle/>
          <a:p>
            <a:pPr algn="ctr">
              <a:lnSpc>
                <a:spcPct val="150000"/>
              </a:lnSpc>
            </a:pPr>
            <a:r>
              <a:rPr lang="en-US" sz="2400" b="1" i="1" dirty="0">
                <a:latin typeface="Times New Roman" panose="02020603050405020304" pitchFamily="18" charset="0"/>
                <a:cs typeface="Times New Roman" panose="02020603050405020304" pitchFamily="18" charset="0"/>
              </a:rPr>
              <a:t>Presented by  </a:t>
            </a:r>
          </a:p>
          <a:p>
            <a:pPr algn="ctr">
              <a:lnSpc>
                <a:spcPct val="150000"/>
              </a:lnSpc>
            </a:pPr>
            <a:r>
              <a:rPr lang="en-US" sz="2000" b="1" dirty="0">
                <a:latin typeface="Times New Roman" panose="02020603050405020304" pitchFamily="18" charset="0"/>
                <a:cs typeface="Times New Roman" panose="02020603050405020304" pitchFamily="18" charset="0"/>
              </a:rPr>
              <a:t>  Name:  Sojib Hossain</a:t>
            </a:r>
          </a:p>
          <a:p>
            <a:pPr algn="ctr">
              <a:lnSpc>
                <a:spcPct val="150000"/>
              </a:lnSpc>
            </a:pPr>
            <a:r>
              <a:rPr lang="en-US" sz="2000" b="1" dirty="0">
                <a:solidFill>
                  <a:srgbClr val="7030A0"/>
                </a:solidFill>
                <a:latin typeface="Times New Roman" panose="02020603050405020304" pitchFamily="18" charset="0"/>
                <a:cs typeface="Times New Roman" panose="02020603050405020304" pitchFamily="18" charset="0"/>
              </a:rPr>
              <a:t>Examination Roll No: 2010924181</a:t>
            </a:r>
          </a:p>
          <a:p>
            <a:pPr algn="ctr">
              <a:lnSpc>
                <a:spcPct val="150000"/>
              </a:lnSpc>
            </a:pPr>
            <a:r>
              <a:rPr lang="en-US" sz="2000" b="1" dirty="0">
                <a:latin typeface="Times New Roman" panose="02020603050405020304" pitchFamily="18" charset="0"/>
                <a:cs typeface="Times New Roman" panose="02020603050405020304" pitchFamily="18" charset="0"/>
              </a:rPr>
              <a:t>Session: 2019-2020</a:t>
            </a:r>
          </a:p>
          <a:p>
            <a:pPr algn="ctr">
              <a:lnSpc>
                <a:spcPct val="150000"/>
              </a:lnSpc>
            </a:pPr>
            <a:r>
              <a:rPr lang="en-US" sz="2000" b="1" dirty="0">
                <a:latin typeface="Times New Roman" panose="02020603050405020304" pitchFamily="18" charset="0"/>
                <a:cs typeface="Times New Roman" panose="02020603050405020304" pitchFamily="18" charset="0"/>
              </a:rPr>
              <a:t>Examination Year: 2023  </a:t>
            </a:r>
          </a:p>
          <a:p>
            <a:pPr algn="ctr"/>
            <a:endParaRPr lang="en-US" dirty="0"/>
          </a:p>
          <a:p>
            <a:pPr algn="ctr"/>
            <a:endParaRPr lang="en-US" dirty="0"/>
          </a:p>
          <a:p>
            <a:pPr algn="ctr">
              <a:lnSpc>
                <a:spcPct val="150000"/>
              </a:lnSpc>
            </a:pPr>
            <a:r>
              <a:rPr lang="en-US" sz="2000" b="1" dirty="0">
                <a:latin typeface="Times New Roman" panose="02020603050405020304" pitchFamily="18" charset="0"/>
                <a:cs typeface="Times New Roman" panose="02020603050405020304" pitchFamily="18" charset="0"/>
              </a:rPr>
              <a:t>Department of Statistics </a:t>
            </a:r>
          </a:p>
          <a:p>
            <a:pPr algn="ctr">
              <a:lnSpc>
                <a:spcPct val="150000"/>
              </a:lnSpc>
            </a:pPr>
            <a:r>
              <a:rPr lang="en-US" sz="2000" b="1" dirty="0">
                <a:latin typeface="Times New Roman" panose="02020603050405020304" pitchFamily="18" charset="0"/>
                <a:cs typeface="Times New Roman" panose="02020603050405020304" pitchFamily="18" charset="0"/>
              </a:rPr>
              <a:t>University of Rajshahi</a:t>
            </a:r>
          </a:p>
          <a:p>
            <a:pPr algn="ctr">
              <a:lnSpc>
                <a:spcPct val="150000"/>
              </a:lnSpc>
            </a:pPr>
            <a:r>
              <a:rPr lang="en-US" sz="2000" b="1" dirty="0">
                <a:latin typeface="Times New Roman" panose="02020603050405020304" pitchFamily="18" charset="0"/>
                <a:cs typeface="Times New Roman" panose="02020603050405020304" pitchFamily="18" charset="0"/>
              </a:rPr>
              <a:t>Rajshahi-6205,</a:t>
            </a:r>
          </a:p>
          <a:p>
            <a:pPr algn="ctr">
              <a:lnSpc>
                <a:spcPct val="150000"/>
              </a:lnSpc>
            </a:pPr>
            <a:r>
              <a:rPr lang="en-US" sz="2000" b="1" dirty="0">
                <a:latin typeface="Times New Roman" panose="02020603050405020304" pitchFamily="18" charset="0"/>
                <a:cs typeface="Times New Roman" panose="02020603050405020304" pitchFamily="18" charset="0"/>
              </a:rPr>
              <a:t>Bangladesh       </a:t>
            </a:r>
            <a:r>
              <a:rPr lang="en-US" dirty="0"/>
              <a:t>                   </a:t>
            </a:r>
          </a:p>
        </p:txBody>
      </p:sp>
      <p:cxnSp>
        <p:nvCxnSpPr>
          <p:cNvPr id="9" name="Straight Connector 8">
            <a:extLst>
              <a:ext uri="{FF2B5EF4-FFF2-40B4-BE49-F238E27FC236}">
                <a16:creationId xmlns:a16="http://schemas.microsoft.com/office/drawing/2014/main" id="{A14A2D0C-86E8-5A44-F14F-CBB999F377F8}"/>
              </a:ext>
            </a:extLst>
          </p:cNvPr>
          <p:cNvCxnSpPr>
            <a:cxnSpLocks/>
          </p:cNvCxnSpPr>
          <p:nvPr/>
        </p:nvCxnSpPr>
        <p:spPr>
          <a:xfrm>
            <a:off x="1463040" y="4833151"/>
            <a:ext cx="9246870"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1B41A330-8AA5-21C0-17B4-65E948413F20}"/>
              </a:ext>
            </a:extLst>
          </p:cNvPr>
          <p:cNvCxnSpPr>
            <a:cxnSpLocks/>
          </p:cNvCxnSpPr>
          <p:nvPr/>
        </p:nvCxnSpPr>
        <p:spPr>
          <a:xfrm>
            <a:off x="1463040" y="4775860"/>
            <a:ext cx="9246870" cy="0"/>
          </a:xfrm>
          <a:prstGeom prst="line">
            <a:avLst/>
          </a:prstGeom>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1E635C80-048A-8406-29EA-C372F5677839}"/>
              </a:ext>
            </a:extLst>
          </p:cNvPr>
          <p:cNvSpPr txBox="1"/>
          <p:nvPr/>
        </p:nvSpPr>
        <p:spPr>
          <a:xfrm>
            <a:off x="11755417" y="6226175"/>
            <a:ext cx="46863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28948193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525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BD7AE0-D0D7-C39C-D5EB-7541A97BA96E}"/>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AFDD344-2DD0-19BF-5E10-FE33753743F0}"/>
              </a:ext>
            </a:extLst>
          </p:cNvPr>
          <p:cNvSpPr txBox="1"/>
          <p:nvPr/>
        </p:nvSpPr>
        <p:spPr>
          <a:xfrm>
            <a:off x="75413" y="141400"/>
            <a:ext cx="4299510"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Outline of the presentation</a:t>
            </a:r>
          </a:p>
        </p:txBody>
      </p:sp>
      <p:sp>
        <p:nvSpPr>
          <p:cNvPr id="4" name="TextBox 3">
            <a:extLst>
              <a:ext uri="{FF2B5EF4-FFF2-40B4-BE49-F238E27FC236}">
                <a16:creationId xmlns:a16="http://schemas.microsoft.com/office/drawing/2014/main" id="{DC2A3DD0-E6BE-2513-F993-91EE7E5B279B}"/>
              </a:ext>
            </a:extLst>
          </p:cNvPr>
          <p:cNvSpPr txBox="1"/>
          <p:nvPr/>
        </p:nvSpPr>
        <p:spPr>
          <a:xfrm>
            <a:off x="655162" y="975438"/>
            <a:ext cx="6056721" cy="611994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Background of the study                                   </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Objectives of the study</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Literature review</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Research gap</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Materials and Methods</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Research findings and discussion</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Main findings</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Further study</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Key references</a:t>
            </a:r>
          </a:p>
          <a:p>
            <a:pPr marL="285750" indent="-285750">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57CE960-BB5D-1589-47C3-3896066C665D}"/>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D578DD5-6AF0-3C4B-D53A-5C17D9CE8F42}"/>
              </a:ext>
            </a:extLst>
          </p:cNvPr>
          <p:cNvSpPr txBox="1"/>
          <p:nvPr/>
        </p:nvSpPr>
        <p:spPr>
          <a:xfrm>
            <a:off x="11755417" y="6226175"/>
            <a:ext cx="46863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1176321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6A8F2C-37DF-8448-E929-65E5C64C9B26}"/>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3DBFD66-86ED-4E4B-7613-96CEC8955C87}"/>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FAD78DF-8128-C143-A851-B2849DDA3735}"/>
              </a:ext>
            </a:extLst>
          </p:cNvPr>
          <p:cNvSpPr txBox="1"/>
          <p:nvPr/>
        </p:nvSpPr>
        <p:spPr>
          <a:xfrm>
            <a:off x="169682" y="999489"/>
            <a:ext cx="7390616" cy="3046988"/>
          </a:xfrm>
          <a:prstGeom prst="rect">
            <a:avLst/>
          </a:prstGeom>
          <a:noFill/>
        </p:spPr>
        <p:txBody>
          <a:bodyPr wrap="square">
            <a:spAutoFit/>
          </a:bodyPr>
          <a:lstStyle/>
          <a:p>
            <a:pPr algn="just"/>
            <a:r>
              <a:rPr lang="en-US" sz="2400" kern="100" dirty="0">
                <a:effectLst/>
                <a:latin typeface="Times New Roman" panose="02020603050405020304" pitchFamily="18" charset="0"/>
                <a:ea typeface="Calibri" panose="020F0502020204030204" pitchFamily="34" charset="0"/>
                <a:cs typeface="Vrinda" panose="020B0502040204020203" pitchFamily="34" charset="0"/>
              </a:rPr>
              <a:t>The rapid growth of mobile banking is reshaping the financial services. </a:t>
            </a:r>
            <a:r>
              <a:rPr lang="en-US" sz="2400" dirty="0">
                <a:latin typeface="Times New Roman" panose="02020603050405020304" pitchFamily="18" charset="0"/>
                <a:ea typeface="Calibri" panose="020F0502020204030204" pitchFamily="34" charset="0"/>
              </a:rPr>
              <a:t>F</a:t>
            </a:r>
            <a:r>
              <a:rPr lang="en-US" sz="2400" dirty="0">
                <a:effectLst/>
                <a:latin typeface="Times New Roman" panose="02020603050405020304" pitchFamily="18" charset="0"/>
                <a:ea typeface="Calibri" panose="020F0502020204030204" pitchFamily="34" charset="0"/>
              </a:rPr>
              <a:t>eatures like cost efficiency and adaptability to user preferences significantly influence satisfaction levels. Perceived justice in addressing service failures plays a significant role in shaping customer loyalty and trust in mobile banking apps</a:t>
            </a:r>
            <a:r>
              <a:rPr lang="en-US" sz="2400" dirty="0">
                <a:solidFill>
                  <a:srgbClr val="000000"/>
                </a:solidFill>
                <a:effectLst/>
                <a:latin typeface="Times New Roman" panose="02020603050405020304" pitchFamily="18" charset="0"/>
                <a:ea typeface="Calibri" panose="020F0502020204030204" pitchFamily="34" charset="0"/>
              </a:rPr>
              <a:t>. </a:t>
            </a:r>
            <a:r>
              <a:rPr lang="en-US" sz="2400" dirty="0">
                <a:effectLst/>
                <a:latin typeface="Times New Roman" panose="02020603050405020304" pitchFamily="18" charset="0"/>
                <a:ea typeface="Calibri" panose="020F0502020204030204" pitchFamily="34" charset="0"/>
              </a:rPr>
              <a:t>Demographic factors, such as age and education, also impact the adoption and satisfaction rates of mobile banking users.</a:t>
            </a:r>
            <a:endParaRPr lang="en-US" sz="2400" dirty="0"/>
          </a:p>
        </p:txBody>
      </p:sp>
      <p:sp>
        <p:nvSpPr>
          <p:cNvPr id="5" name="TextBox 4">
            <a:extLst>
              <a:ext uri="{FF2B5EF4-FFF2-40B4-BE49-F238E27FC236}">
                <a16:creationId xmlns:a16="http://schemas.microsoft.com/office/drawing/2014/main" id="{ADA91B93-14E0-0399-7AD8-A78DF9632021}"/>
              </a:ext>
            </a:extLst>
          </p:cNvPr>
          <p:cNvSpPr txBox="1"/>
          <p:nvPr/>
        </p:nvSpPr>
        <p:spPr>
          <a:xfrm>
            <a:off x="169682" y="179109"/>
            <a:ext cx="3962880"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Background of the study</a:t>
            </a:r>
          </a:p>
        </p:txBody>
      </p:sp>
      <p:pic>
        <p:nvPicPr>
          <p:cNvPr id="7" name="Picture 6">
            <a:extLst>
              <a:ext uri="{FF2B5EF4-FFF2-40B4-BE49-F238E27FC236}">
                <a16:creationId xmlns:a16="http://schemas.microsoft.com/office/drawing/2014/main" id="{DB3AA951-5D25-7232-9783-8C3D50E52D9E}"/>
              </a:ext>
            </a:extLst>
          </p:cNvPr>
          <p:cNvPicPr>
            <a:picLocks noChangeAspect="1"/>
          </p:cNvPicPr>
          <p:nvPr/>
        </p:nvPicPr>
        <p:blipFill>
          <a:blip r:embed="rId2">
            <a:extLst>
              <a:ext uri="{28A0092B-C50C-407E-A947-70E740481C1C}">
                <a14:useLocalDpi xmlns:a14="http://schemas.microsoft.com/office/drawing/2010/main" val="0"/>
              </a:ext>
            </a:extLst>
          </a:blip>
          <a:srcRect l="8933" r="8023" b="7519"/>
          <a:stretch/>
        </p:blipFill>
        <p:spPr>
          <a:xfrm>
            <a:off x="7833709" y="878273"/>
            <a:ext cx="4358293" cy="2825375"/>
          </a:xfrm>
          <a:prstGeom prst="rect">
            <a:avLst/>
          </a:prstGeom>
        </p:spPr>
      </p:pic>
      <p:sp>
        <p:nvSpPr>
          <p:cNvPr id="9" name="TextBox 8">
            <a:extLst>
              <a:ext uri="{FF2B5EF4-FFF2-40B4-BE49-F238E27FC236}">
                <a16:creationId xmlns:a16="http://schemas.microsoft.com/office/drawing/2014/main" id="{C698C721-0D2B-895D-A589-771C11AEFF02}"/>
              </a:ext>
            </a:extLst>
          </p:cNvPr>
          <p:cNvSpPr txBox="1"/>
          <p:nvPr/>
        </p:nvSpPr>
        <p:spPr>
          <a:xfrm>
            <a:off x="11755417" y="6226175"/>
            <a:ext cx="46863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2412186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8A806D-BC29-E84C-939F-0A5BF743B363}"/>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0E43CC7-228F-8195-AFA1-17BD6C6C0ACE}"/>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p:cNvSpPr/>
          <p:nvPr/>
        </p:nvSpPr>
        <p:spPr>
          <a:xfrm>
            <a:off x="-3763" y="5930681"/>
            <a:ext cx="12195763" cy="602159"/>
          </a:xfrm>
          <a:prstGeom prst="rect">
            <a:avLst/>
          </a:prstGeom>
          <a:solidFill>
            <a:srgbClr val="FFFFFF"/>
          </a:solidFill>
          <a:ln w="18000">
            <a:noFill/>
          </a:ln>
        </p:spPr>
        <p:style>
          <a:lnRef idx="0">
            <a:scrgbClr r="0" g="0" b="0"/>
          </a:lnRef>
          <a:fillRef idx="0">
            <a:scrgbClr r="0" g="0" b="0"/>
          </a:fillRef>
          <a:effectRef idx="0">
            <a:scrgbClr r="0" g="0" b="0"/>
          </a:effectRef>
          <a:fontRef idx="minor"/>
        </p:style>
      </p:sp>
      <p:sp>
        <p:nvSpPr>
          <p:cNvPr id="127" name="TextBox 126"/>
          <p:cNvSpPr txBox="1"/>
          <p:nvPr/>
        </p:nvSpPr>
        <p:spPr>
          <a:xfrm>
            <a:off x="435600" y="217693"/>
            <a:ext cx="11320045" cy="578193"/>
          </a:xfrm>
          <a:prstGeom prst="rect">
            <a:avLst/>
          </a:prstGeom>
          <a:noFill/>
          <a:ln w="0">
            <a:noFill/>
          </a:ln>
        </p:spPr>
        <p:txBody>
          <a:bodyPr lIns="0" tIns="0" rIns="0" bIns="0" anchor="ctr">
            <a:noAutofit/>
          </a:bodyPr>
          <a:lstStyle/>
          <a:p>
            <a:pPr defTabSz="1105875"/>
            <a:r>
              <a:rPr lang="en-GB" sz="3144" b="1" spc="-1" dirty="0">
                <a:latin typeface="Times New Roman"/>
                <a:ea typeface="DejaVu Sans"/>
              </a:rPr>
              <a:t>Research Objective</a:t>
            </a:r>
            <a:endParaRPr lang="en-GB" sz="3144" spc="-1" dirty="0">
              <a:latin typeface="Arial"/>
            </a:endParaRPr>
          </a:p>
        </p:txBody>
      </p:sp>
      <p:pic>
        <p:nvPicPr>
          <p:cNvPr id="2" name="Picture 1">
            <a:extLst>
              <a:ext uri="{FF2B5EF4-FFF2-40B4-BE49-F238E27FC236}">
                <a16:creationId xmlns:a16="http://schemas.microsoft.com/office/drawing/2014/main" id="{CC810E23-804F-C6D5-F372-562F4D3C48CB}"/>
              </a:ext>
            </a:extLst>
          </p:cNvPr>
          <p:cNvPicPr>
            <a:picLocks noChangeAspect="1"/>
          </p:cNvPicPr>
          <p:nvPr/>
        </p:nvPicPr>
        <p:blipFill>
          <a:blip r:embed="rId2"/>
          <a:stretch>
            <a:fillRect/>
          </a:stretch>
        </p:blipFill>
        <p:spPr>
          <a:xfrm>
            <a:off x="9707074" y="880728"/>
            <a:ext cx="2484220" cy="1952458"/>
          </a:xfrm>
          <a:prstGeom prst="rect">
            <a:avLst/>
          </a:prstGeom>
        </p:spPr>
      </p:pic>
      <p:sp>
        <p:nvSpPr>
          <p:cNvPr id="4" name="TextBox 3">
            <a:extLst>
              <a:ext uri="{FF2B5EF4-FFF2-40B4-BE49-F238E27FC236}">
                <a16:creationId xmlns:a16="http://schemas.microsoft.com/office/drawing/2014/main" id="{4B1BFF01-429B-8DE8-27DF-B5A6F3ED0A75}"/>
              </a:ext>
            </a:extLst>
          </p:cNvPr>
          <p:cNvSpPr txBox="1"/>
          <p:nvPr/>
        </p:nvSpPr>
        <p:spPr>
          <a:xfrm>
            <a:off x="256491" y="1080569"/>
            <a:ext cx="9132606" cy="1555041"/>
          </a:xfrm>
          <a:prstGeom prst="rect">
            <a:avLst/>
          </a:prstGeom>
          <a:noFill/>
        </p:spPr>
        <p:txBody>
          <a:bodyPr wrap="square">
            <a:spAutoFit/>
          </a:bodyPr>
          <a:lstStyle/>
          <a:p>
            <a:pPr marL="285750" marR="0" indent="-285750" algn="just">
              <a:lnSpc>
                <a:spcPct val="150000"/>
              </a:lnSpc>
              <a:spcBef>
                <a:spcPts val="0"/>
              </a:spcBef>
              <a:spcAft>
                <a:spcPts val="800"/>
              </a:spcAft>
              <a:buFont typeface="Wingdings" panose="05000000000000000000" pitchFamily="2" charset="2"/>
              <a:buChar char="q"/>
            </a:pPr>
            <a:r>
              <a:rPr lang="en-US" sz="2200" kern="0" dirty="0">
                <a:effectLst/>
                <a:latin typeface="Times New Roman" panose="02020603050405020304" pitchFamily="18" charset="0"/>
                <a:ea typeface="Times New Roman" panose="02020603050405020304" pitchFamily="18" charset="0"/>
                <a:cs typeface="Vrinda" panose="020B0502040204020203" pitchFamily="34" charset="0"/>
              </a:rPr>
              <a:t>The </a:t>
            </a:r>
            <a:r>
              <a:rPr lang="en-US" sz="2200" b="1" kern="0" dirty="0">
                <a:solidFill>
                  <a:srgbClr val="7030A0"/>
                </a:solidFill>
                <a:effectLst/>
                <a:latin typeface="Times New Roman" panose="02020603050405020304" pitchFamily="18" charset="0"/>
                <a:ea typeface="Times New Roman" panose="02020603050405020304" pitchFamily="18" charset="0"/>
                <a:cs typeface="Vrinda" panose="020B0502040204020203" pitchFamily="34" charset="0"/>
              </a:rPr>
              <a:t>main objective </a:t>
            </a:r>
            <a:r>
              <a:rPr lang="en-US" sz="2200" kern="0" dirty="0">
                <a:effectLst/>
                <a:latin typeface="Times New Roman" panose="02020603050405020304" pitchFamily="18" charset="0"/>
                <a:ea typeface="Times New Roman" panose="02020603050405020304" pitchFamily="18" charset="0"/>
                <a:cs typeface="Vrinda" panose="020B0502040204020203" pitchFamily="34" charset="0"/>
              </a:rPr>
              <a:t>of the study is to explore, evaluate, and provide practical insights associated with overall</a:t>
            </a:r>
            <a:r>
              <a:rPr lang="en-US" sz="2200" kern="0" dirty="0">
                <a:latin typeface="Times New Roman" panose="02020603050405020304" pitchFamily="18" charset="0"/>
                <a:ea typeface="Calibri" panose="020F0502020204030204" pitchFamily="34" charset="0"/>
                <a:cs typeface="Vrinda" panose="020B0502040204020203" pitchFamily="34" charset="0"/>
              </a:rPr>
              <a:t> </a:t>
            </a:r>
            <a:r>
              <a:rPr lang="en-US" sz="2200" dirty="0">
                <a:effectLst/>
                <a:latin typeface="Times New Roman" panose="02020603050405020304" pitchFamily="18" charset="0"/>
                <a:ea typeface="Calibri" panose="020F0502020204030204" pitchFamily="34" charset="0"/>
              </a:rPr>
              <a:t>satisfaction of mobile banking services at University of Rajshahi.</a:t>
            </a:r>
            <a:endParaRPr lang="en-US" sz="2200" kern="0" dirty="0">
              <a:effectLst/>
              <a:latin typeface="Times New Roman" panose="02020603050405020304" pitchFamily="18" charset="0"/>
              <a:ea typeface="Times New Roman" panose="02020603050405020304" pitchFamily="18" charset="0"/>
              <a:cs typeface="Vrinda" panose="020B0502040204020203" pitchFamily="34" charset="0"/>
            </a:endParaRPr>
          </a:p>
        </p:txBody>
      </p:sp>
      <p:sp>
        <p:nvSpPr>
          <p:cNvPr id="5" name="TextBox 4">
            <a:extLst>
              <a:ext uri="{FF2B5EF4-FFF2-40B4-BE49-F238E27FC236}">
                <a16:creationId xmlns:a16="http://schemas.microsoft.com/office/drawing/2014/main" id="{21A0EFF0-915C-7155-9B4D-95960BEE49ED}"/>
              </a:ext>
            </a:extLst>
          </p:cNvPr>
          <p:cNvSpPr txBox="1"/>
          <p:nvPr/>
        </p:nvSpPr>
        <p:spPr>
          <a:xfrm>
            <a:off x="636270" y="2607791"/>
            <a:ext cx="11542077" cy="3925049"/>
          </a:xfrm>
          <a:prstGeom prst="rect">
            <a:avLst/>
          </a:prstGeom>
          <a:noFill/>
        </p:spPr>
        <p:txBody>
          <a:bodyPr wrap="square" rtlCol="0">
            <a:spAutoFit/>
          </a:bodyPr>
          <a:lstStyle/>
          <a:p>
            <a:pPr marL="0" marR="0" algn="just">
              <a:lnSpc>
                <a:spcPct val="150000"/>
              </a:lnSpc>
              <a:spcBef>
                <a:spcPts val="0"/>
              </a:spcBef>
              <a:spcAft>
                <a:spcPts val="800"/>
              </a:spcAft>
            </a:pPr>
            <a:r>
              <a:rPr lang="en-US" sz="2200" kern="0" dirty="0">
                <a:effectLst/>
                <a:latin typeface="Times New Roman" panose="02020603050405020304" pitchFamily="18" charset="0"/>
                <a:ea typeface="Times New Roman" panose="02020603050405020304" pitchFamily="18" charset="0"/>
                <a:cs typeface="Times New Roman" panose="02020603050405020304" pitchFamily="18" charset="0"/>
              </a:rPr>
              <a:t>To achieve the </a:t>
            </a:r>
            <a:r>
              <a:rPr lang="en-US" sz="2200" kern="0" dirty="0">
                <a:latin typeface="Times New Roman" panose="02020603050405020304" pitchFamily="18" charset="0"/>
                <a:ea typeface="Times New Roman" panose="02020603050405020304" pitchFamily="18" charset="0"/>
                <a:cs typeface="Times New Roman" panose="02020603050405020304" pitchFamily="18" charset="0"/>
              </a:rPr>
              <a:t>main</a:t>
            </a:r>
            <a:r>
              <a:rPr lang="en-US" sz="2200" kern="0" dirty="0">
                <a:effectLst/>
                <a:latin typeface="Times New Roman" panose="02020603050405020304" pitchFamily="18" charset="0"/>
                <a:ea typeface="Times New Roman" panose="02020603050405020304" pitchFamily="18" charset="0"/>
                <a:cs typeface="Times New Roman" panose="02020603050405020304" pitchFamily="18" charset="0"/>
              </a:rPr>
              <a:t> purpose of research, the </a:t>
            </a:r>
            <a:r>
              <a:rPr lang="en-US" sz="2200" b="1" kern="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specific objectives </a:t>
            </a:r>
            <a:r>
              <a:rPr lang="en-US" sz="2200" kern="0" dirty="0">
                <a:effectLst/>
                <a:latin typeface="Times New Roman" panose="02020603050405020304" pitchFamily="18" charset="0"/>
                <a:ea typeface="Times New Roman" panose="02020603050405020304" pitchFamily="18" charset="0"/>
                <a:cs typeface="Times New Roman" panose="02020603050405020304" pitchFamily="18" charset="0"/>
              </a:rPr>
              <a:t>are:</a:t>
            </a:r>
            <a:endParaRPr lang="en-US"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200000"/>
              </a:lnSpc>
              <a:buFont typeface="Arial" panose="020B0604020202020204" pitchFamily="34" charset="0"/>
              <a:buChar char="•"/>
            </a:pPr>
            <a:r>
              <a:rPr lang="en-US" sz="2200" kern="100" dirty="0">
                <a:effectLst/>
                <a:latin typeface="Times New Roman" panose="02020603050405020304" pitchFamily="18" charset="0"/>
                <a:ea typeface="Calibri" panose="020F0502020204030204" pitchFamily="34" charset="0"/>
                <a:cs typeface="Times New Roman" panose="02020603050405020304" pitchFamily="18" charset="0"/>
              </a:rPr>
              <a:t> To </a:t>
            </a:r>
            <a:r>
              <a:rPr lang="en-US" sz="2200" kern="100" dirty="0">
                <a:latin typeface="Times New Roman" panose="02020603050405020304" pitchFamily="18" charset="0"/>
                <a:ea typeface="Calibri" panose="020F0502020204030204" pitchFamily="34" charset="0"/>
                <a:cs typeface="Times New Roman" panose="02020603050405020304" pitchFamily="18" charset="0"/>
              </a:rPr>
              <a:t>a</a:t>
            </a:r>
            <a:r>
              <a:rPr lang="en-US" sz="2200" kern="100" dirty="0">
                <a:effectLst/>
                <a:latin typeface="Times New Roman" panose="02020603050405020304" pitchFamily="18" charset="0"/>
                <a:ea typeface="Calibri" panose="020F0502020204030204" pitchFamily="34" charset="0"/>
                <a:cs typeface="Times New Roman" panose="02020603050405020304" pitchFamily="18" charset="0"/>
              </a:rPr>
              <a:t>ssess students' satisfaction levels with the use of mobile banking at Rajshahi University.</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buFont typeface="Arial" panose="020B0604020202020204" pitchFamily="34" charset="0"/>
              <a:buChar char="•"/>
            </a:pPr>
            <a:r>
              <a:rPr lang="en-US" sz="2200" kern="100" dirty="0">
                <a:effectLst/>
                <a:latin typeface="Times New Roman" panose="02020603050405020304" pitchFamily="18" charset="0"/>
                <a:ea typeface="Calibri" panose="020F0502020204030204" pitchFamily="34" charset="0"/>
                <a:cs typeface="Times New Roman" panose="02020603050405020304" pitchFamily="18" charset="0"/>
              </a:rPr>
              <a:t> To identify key factors influencing satisfaction (e.g., usability, security, transaction speed).</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200000"/>
              </a:lnSpc>
              <a:spcAft>
                <a:spcPts val="800"/>
              </a:spcAft>
              <a:buFont typeface="Arial" panose="020B0604020202020204" pitchFamily="34" charset="0"/>
              <a:buChar char="•"/>
            </a:pPr>
            <a:r>
              <a:rPr lang="en-US" sz="2200" kern="100" dirty="0">
                <a:effectLst/>
                <a:latin typeface="Times New Roman" panose="02020603050405020304" pitchFamily="18" charset="0"/>
                <a:ea typeface="Calibri" panose="020F0502020204030204" pitchFamily="34" charset="0"/>
                <a:cs typeface="Times New Roman" panose="02020603050405020304" pitchFamily="18" charset="0"/>
              </a:rPr>
              <a:t>To gather insights on any additional features or innovative solutions that students would like to see integrated into mobile banking apps.</a:t>
            </a:r>
          </a:p>
          <a:p>
            <a:pPr marL="342900" indent="-342900">
              <a:lnSpc>
                <a:spcPct val="200000"/>
              </a:lnSpc>
              <a:spcAft>
                <a:spcPts val="800"/>
              </a:spcAft>
              <a:buFont typeface="Arial" panose="020B0604020202020204" pitchFamily="34" charset="0"/>
              <a:buChar char="•"/>
            </a:pPr>
            <a:r>
              <a:rPr lang="en-US" sz="2200" kern="100" dirty="0">
                <a:effectLst/>
                <a:latin typeface="Times New Roman" panose="02020603050405020304" pitchFamily="18" charset="0"/>
                <a:ea typeface="Calibri" panose="020F0502020204030204" pitchFamily="34" charset="0"/>
                <a:cs typeface="Times New Roman" panose="02020603050405020304" pitchFamily="18" charset="0"/>
              </a:rPr>
              <a:t>Recommend ways to enhance mobile banking experiences for students.</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C99A2423-AA78-6A36-2066-E40B70D83AA3}"/>
              </a:ext>
            </a:extLst>
          </p:cNvPr>
          <p:cNvSpPr txBox="1"/>
          <p:nvPr/>
        </p:nvSpPr>
        <p:spPr>
          <a:xfrm>
            <a:off x="11755417" y="6226175"/>
            <a:ext cx="46863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3F91F6-4651-38E4-C972-88421511988C}"/>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5348F7D-96D3-728E-A1E3-B5DDF3F69D7B}"/>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TextBox 123"/>
          <p:cNvSpPr txBox="1"/>
          <p:nvPr/>
        </p:nvSpPr>
        <p:spPr>
          <a:xfrm>
            <a:off x="435600" y="217693"/>
            <a:ext cx="11320045" cy="578193"/>
          </a:xfrm>
          <a:prstGeom prst="rect">
            <a:avLst/>
          </a:prstGeom>
          <a:noFill/>
          <a:ln w="0">
            <a:noFill/>
          </a:ln>
        </p:spPr>
        <p:txBody>
          <a:bodyPr lIns="0" tIns="0" rIns="0" bIns="0" anchor="ctr">
            <a:noAutofit/>
          </a:bodyPr>
          <a:lstStyle/>
          <a:p>
            <a:pPr defTabSz="1105875"/>
            <a:r>
              <a:rPr lang="en-GB" sz="3144" b="1" spc="-1" dirty="0">
                <a:latin typeface="Times New Roman"/>
                <a:ea typeface="DejaVu Sans"/>
              </a:rPr>
              <a:t>Literature Review</a:t>
            </a:r>
            <a:endParaRPr lang="en-GB" sz="3144" spc="-1" dirty="0">
              <a:latin typeface="Arial"/>
            </a:endParaRPr>
          </a:p>
        </p:txBody>
      </p:sp>
      <p:sp>
        <p:nvSpPr>
          <p:cNvPr id="125" name="Rectangle 124"/>
          <p:cNvSpPr/>
          <p:nvPr/>
        </p:nvSpPr>
        <p:spPr>
          <a:xfrm>
            <a:off x="439519" y="1087595"/>
            <a:ext cx="11318739" cy="4700866"/>
          </a:xfrm>
          <a:prstGeom prst="rect">
            <a:avLst/>
          </a:prstGeom>
          <a:noFill/>
          <a:ln w="0">
            <a:noFill/>
          </a:ln>
        </p:spPr>
        <p:style>
          <a:lnRef idx="0">
            <a:scrgbClr r="0" g="0" b="0"/>
          </a:lnRef>
          <a:fillRef idx="0">
            <a:scrgbClr r="0" g="0" b="0"/>
          </a:fillRef>
          <a:effectRef idx="0">
            <a:scrgbClr r="0" g="0" b="0"/>
          </a:effectRef>
          <a:fontRef idx="minor"/>
        </p:style>
        <p:txBody>
          <a:bodyPr lIns="0" tIns="0" rIns="0" bIns="0">
            <a:noAutofit/>
          </a:bodyPr>
          <a:lstStyle/>
          <a:p>
            <a:pPr marL="261230" indent="-260360" algn="just" defTabSz="1105875">
              <a:lnSpc>
                <a:spcPct val="150000"/>
              </a:lnSpc>
              <a:spcAft>
                <a:spcPts val="1026"/>
              </a:spcAft>
              <a:buClr>
                <a:srgbClr val="000000"/>
              </a:buClr>
              <a:buFont typeface="OpenSymbol"/>
              <a:buChar char="✓"/>
            </a:pPr>
            <a:r>
              <a:rPr lang="en-US" sz="1700" dirty="0">
                <a:solidFill>
                  <a:srgbClr val="000000"/>
                </a:solidFill>
                <a:effectLst/>
                <a:latin typeface="Times New Roman" panose="02020603050405020304" pitchFamily="18" charset="0"/>
                <a:ea typeface="Calibri" panose="020F0502020204030204" pitchFamily="34" charset="0"/>
              </a:rPr>
              <a:t>(Islam et al., 2019) studied on “</a:t>
            </a:r>
            <a:r>
              <a:rPr lang="en-US" sz="1700" b="1" kern="100" dirty="0">
                <a:effectLst/>
                <a:latin typeface="Times New Roman" panose="02020603050405020304" pitchFamily="18" charset="0"/>
                <a:ea typeface="Times New Roman" panose="02020603050405020304" pitchFamily="18" charset="0"/>
                <a:cs typeface="Times New Roman" panose="02020603050405020304" pitchFamily="18" charset="0"/>
              </a:rPr>
              <a:t>Factors Affecting Customers’ Experience in Mobile Banking of Bangladesh”</a:t>
            </a:r>
            <a:r>
              <a:rPr lang="en-US" sz="1700" b="1"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and explored </a:t>
            </a:r>
            <a:r>
              <a:rPr lang="en-US" sz="1700" dirty="0">
                <a:solidFill>
                  <a:srgbClr val="000000"/>
                </a:solidFill>
                <a:effectLst/>
                <a:latin typeface="Times New Roman" panose="02020603050405020304" pitchFamily="18" charset="0"/>
                <a:ea typeface="Calibri" panose="020F0502020204030204" pitchFamily="34" charset="0"/>
              </a:rPr>
              <a:t>the factors that influence the adoption and continued use of mobile banking services. Key drivers included trust, perceived ease of use, security, and cost. </a:t>
            </a:r>
          </a:p>
          <a:p>
            <a:pPr marL="261230" indent="-260360" algn="just" defTabSz="1105875">
              <a:lnSpc>
                <a:spcPct val="150000"/>
              </a:lnSpc>
              <a:spcAft>
                <a:spcPts val="1026"/>
              </a:spcAft>
              <a:buClr>
                <a:srgbClr val="000000"/>
              </a:buClr>
              <a:buFont typeface="OpenSymbol"/>
              <a:buChar char="✓"/>
            </a:pPr>
            <a:r>
              <a:rPr lang="en-US" sz="1700" dirty="0">
                <a:effectLst/>
                <a:latin typeface="Times New Roman" panose="02020603050405020304" pitchFamily="18" charset="0"/>
                <a:ea typeface="Times New Roman" panose="02020603050405020304" pitchFamily="18" charset="0"/>
              </a:rPr>
              <a:t>Hai, M. A., &amp; Rahman, M. M. (2016) studied on </a:t>
            </a:r>
            <a:r>
              <a:rPr lang="en-US" sz="1700" b="1" dirty="0">
                <a:effectLst/>
                <a:latin typeface="Times New Roman" panose="02020603050405020304" pitchFamily="18" charset="0"/>
                <a:ea typeface="Times New Roman" panose="02020603050405020304" pitchFamily="18" charset="0"/>
              </a:rPr>
              <a:t>“Measuring the Satisfaction Levels of Mobile Financial Services Users in Bangladesh: An Empirical Study” </a:t>
            </a:r>
            <a:r>
              <a:rPr lang="en-US" sz="1700" dirty="0">
                <a:effectLst/>
                <a:latin typeface="Times New Roman" panose="02020603050405020304" pitchFamily="18" charset="0"/>
                <a:ea typeface="Times New Roman" panose="02020603050405020304" pitchFamily="18" charset="0"/>
              </a:rPr>
              <a:t>and revealed that </a:t>
            </a:r>
            <a:r>
              <a:rPr lang="en-US" sz="1700" dirty="0">
                <a:effectLst/>
                <a:latin typeface="Times New Roman" panose="02020603050405020304" pitchFamily="18" charset="0"/>
                <a:ea typeface="Calibri" panose="020F0502020204030204" pitchFamily="34" charset="0"/>
              </a:rPr>
              <a:t>while mobile banking has become increasingly popular, key factors like service quality, reliability, and responsiveness significantly impact customer satisfaction.</a:t>
            </a:r>
          </a:p>
          <a:p>
            <a:pPr marL="261230" indent="-260360" algn="just" defTabSz="1105875">
              <a:lnSpc>
                <a:spcPct val="150000"/>
              </a:lnSpc>
              <a:spcAft>
                <a:spcPts val="1026"/>
              </a:spcAft>
              <a:buClr>
                <a:srgbClr val="000000"/>
              </a:buClr>
              <a:buFont typeface="OpenSymbol"/>
              <a:buChar char="✓"/>
            </a:pPr>
            <a:r>
              <a:rPr lang="en-US" sz="1700" dirty="0">
                <a:effectLst/>
                <a:latin typeface="Times New Roman" panose="02020603050405020304" pitchFamily="18" charset="0"/>
                <a:ea typeface="Times New Roman" panose="02020603050405020304" pitchFamily="18" charset="0"/>
              </a:rPr>
              <a:t>Dahlberg, T., Guo, J., &amp; </a:t>
            </a:r>
            <a:r>
              <a:rPr lang="en-US" sz="1700" dirty="0" err="1">
                <a:effectLst/>
                <a:latin typeface="Times New Roman" panose="02020603050405020304" pitchFamily="18" charset="0"/>
                <a:ea typeface="Times New Roman" panose="02020603050405020304" pitchFamily="18" charset="0"/>
              </a:rPr>
              <a:t>Ondrus</a:t>
            </a:r>
            <a:r>
              <a:rPr lang="en-US" sz="1700" dirty="0">
                <a:effectLst/>
                <a:latin typeface="Times New Roman" panose="02020603050405020304" pitchFamily="18" charset="0"/>
                <a:ea typeface="Times New Roman" panose="02020603050405020304" pitchFamily="18" charset="0"/>
              </a:rPr>
              <a:t>, J. (2015) studied on </a:t>
            </a:r>
            <a:r>
              <a:rPr lang="en-US" sz="1700" b="1" dirty="0">
                <a:effectLst/>
                <a:latin typeface="Times New Roman" panose="02020603050405020304" pitchFamily="18" charset="0"/>
                <a:ea typeface="Times New Roman" panose="02020603050405020304" pitchFamily="18" charset="0"/>
              </a:rPr>
              <a:t>“A critical review of mobile payment research. Electronic Commerce Research and Applications</a:t>
            </a:r>
            <a:r>
              <a:rPr lang="en-US" sz="1700" b="1" dirty="0">
                <a:latin typeface="Times New Roman" panose="02020603050405020304" pitchFamily="18" charset="0"/>
                <a:ea typeface="Times New Roman" panose="02020603050405020304" pitchFamily="18" charset="0"/>
              </a:rPr>
              <a:t>” </a:t>
            </a:r>
            <a:r>
              <a:rPr lang="en-US" sz="1700" dirty="0">
                <a:latin typeface="Times New Roman" panose="02020603050405020304" pitchFamily="18" charset="0"/>
                <a:ea typeface="Times New Roman" panose="02020603050405020304" pitchFamily="18" charset="0"/>
              </a:rPr>
              <a:t>and </a:t>
            </a:r>
            <a:r>
              <a:rPr lang="en-US" sz="1700" dirty="0">
                <a:solidFill>
                  <a:srgbClr val="000000"/>
                </a:solidFill>
                <a:effectLst/>
                <a:latin typeface="Times New Roman" panose="02020603050405020304" pitchFamily="18" charset="0"/>
                <a:ea typeface="Calibri" panose="020F0502020204030204" pitchFamily="34" charset="0"/>
              </a:rPr>
              <a:t>focused on key themes such as consumer adoption, technology integration, and trust in mobile payment systems.</a:t>
            </a:r>
            <a:endParaRPr lang="en-US" sz="1700" b="1" dirty="0">
              <a:effectLst/>
              <a:latin typeface="Times New Roman" panose="02020603050405020304" pitchFamily="18" charset="0"/>
              <a:ea typeface="Times New Roman" panose="02020603050405020304" pitchFamily="18" charset="0"/>
            </a:endParaRPr>
          </a:p>
          <a:p>
            <a:pPr marL="261230" indent="-260360" algn="just" defTabSz="1105875">
              <a:lnSpc>
                <a:spcPct val="150000"/>
              </a:lnSpc>
              <a:spcAft>
                <a:spcPts val="1026"/>
              </a:spcAft>
              <a:buClr>
                <a:srgbClr val="000000"/>
              </a:buClr>
              <a:buFont typeface="OpenSymbol"/>
              <a:buChar char="✓"/>
            </a:pPr>
            <a:r>
              <a:rPr lang="en-US" sz="1700" dirty="0">
                <a:effectLst/>
                <a:latin typeface="Times New Roman" panose="02020603050405020304" pitchFamily="18" charset="0"/>
                <a:ea typeface="Times New Roman" panose="02020603050405020304" pitchFamily="18" charset="0"/>
              </a:rPr>
              <a:t>Shaikh, A. A., &amp; </a:t>
            </a:r>
            <a:r>
              <a:rPr lang="en-US" sz="1700" dirty="0" err="1">
                <a:effectLst/>
                <a:latin typeface="Times New Roman" panose="02020603050405020304" pitchFamily="18" charset="0"/>
                <a:ea typeface="Times New Roman" panose="02020603050405020304" pitchFamily="18" charset="0"/>
              </a:rPr>
              <a:t>Karjaluoto</a:t>
            </a:r>
            <a:r>
              <a:rPr lang="en-US" sz="1700" dirty="0">
                <a:effectLst/>
                <a:latin typeface="Times New Roman" panose="02020603050405020304" pitchFamily="18" charset="0"/>
                <a:ea typeface="Times New Roman" panose="02020603050405020304" pitchFamily="18" charset="0"/>
              </a:rPr>
              <a:t>, H. (2015) studied on </a:t>
            </a:r>
            <a:r>
              <a:rPr lang="en-US" sz="1700" b="1" dirty="0">
                <a:effectLst/>
                <a:latin typeface="Times New Roman" panose="02020603050405020304" pitchFamily="18" charset="0"/>
                <a:ea typeface="Times New Roman" panose="02020603050405020304" pitchFamily="18" charset="0"/>
              </a:rPr>
              <a:t>“Mobile banking adoption: A literature review. Telematics and Informatics” </a:t>
            </a:r>
            <a:r>
              <a:rPr lang="en-US" sz="1700" dirty="0">
                <a:effectLst/>
                <a:latin typeface="Times New Roman" panose="02020603050405020304" pitchFamily="18" charset="0"/>
                <a:ea typeface="Times New Roman" panose="02020603050405020304" pitchFamily="18" charset="0"/>
              </a:rPr>
              <a:t>and</a:t>
            </a:r>
            <a:r>
              <a:rPr lang="en-US" sz="1700" b="1" dirty="0">
                <a:effectLst/>
                <a:latin typeface="Times New Roman" panose="02020603050405020304" pitchFamily="18" charset="0"/>
                <a:ea typeface="Times New Roman" panose="02020603050405020304" pitchFamily="18" charset="0"/>
              </a:rPr>
              <a:t> </a:t>
            </a:r>
            <a:r>
              <a:rPr lang="en-US" sz="1700" dirty="0">
                <a:effectLst/>
                <a:latin typeface="Times New Roman" panose="02020603050405020304" pitchFamily="18" charset="0"/>
                <a:ea typeface="Calibri" panose="020F0502020204030204" pitchFamily="34" charset="0"/>
              </a:rPr>
              <a:t>discussed how mobile banking serves as a critical alternative delivery channel for financial transactions, offering benefits like increased access to banking services for previously unbanked populations, improved customer retention, and operational efficiency. </a:t>
            </a:r>
            <a:endParaRPr lang="en-GB" sz="1700" b="1" spc="-1" dirty="0">
              <a:solidFill>
                <a:srgbClr val="1C1C1C"/>
              </a:solidFill>
              <a:latin typeface="Times New Roman"/>
              <a:ea typeface="DejaVu Sans"/>
            </a:endParaRPr>
          </a:p>
        </p:txBody>
      </p:sp>
      <p:sp>
        <p:nvSpPr>
          <p:cNvPr id="6" name="TextBox 5">
            <a:extLst>
              <a:ext uri="{FF2B5EF4-FFF2-40B4-BE49-F238E27FC236}">
                <a16:creationId xmlns:a16="http://schemas.microsoft.com/office/drawing/2014/main" id="{17BBDD64-18F9-44DA-CBDF-091989F687FD}"/>
              </a:ext>
            </a:extLst>
          </p:cNvPr>
          <p:cNvSpPr txBox="1"/>
          <p:nvPr/>
        </p:nvSpPr>
        <p:spPr>
          <a:xfrm>
            <a:off x="11755417" y="6226175"/>
            <a:ext cx="46863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4AA5B61-86A9-7FE8-6DA2-6D58335AF52D}"/>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5DB53BE-7F89-754A-051B-86018189F604}"/>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081892-0CB6-BE89-B8F9-5DF283AD1A07}"/>
              </a:ext>
            </a:extLst>
          </p:cNvPr>
          <p:cNvSpPr>
            <a:spLocks noGrp="1"/>
          </p:cNvSpPr>
          <p:nvPr>
            <p:ph type="title"/>
          </p:nvPr>
        </p:nvSpPr>
        <p:spPr>
          <a:xfrm>
            <a:off x="179108" y="0"/>
            <a:ext cx="10885039" cy="867266"/>
          </a:xfrm>
        </p:spPr>
        <p:txBody>
          <a:bodyPr/>
          <a:lstStyle/>
          <a:p>
            <a:r>
              <a:rPr lang="en-US" sz="2800" b="1" dirty="0">
                <a:latin typeface="Times New Roman" panose="02020603050405020304" pitchFamily="18" charset="0"/>
                <a:cs typeface="Times New Roman" panose="02020603050405020304" pitchFamily="18" charset="0"/>
              </a:rPr>
              <a:t>Research gap</a:t>
            </a:r>
          </a:p>
        </p:txBody>
      </p:sp>
      <p:pic>
        <p:nvPicPr>
          <p:cNvPr id="4" name="Picture 3">
            <a:extLst>
              <a:ext uri="{FF2B5EF4-FFF2-40B4-BE49-F238E27FC236}">
                <a16:creationId xmlns:a16="http://schemas.microsoft.com/office/drawing/2014/main" id="{E4838EF1-1575-F3CA-9371-E6E337FCFD02}"/>
              </a:ext>
            </a:extLst>
          </p:cNvPr>
          <p:cNvPicPr>
            <a:picLocks noChangeAspect="1"/>
          </p:cNvPicPr>
          <p:nvPr/>
        </p:nvPicPr>
        <p:blipFill>
          <a:blip r:embed="rId2"/>
          <a:stretch>
            <a:fillRect/>
          </a:stretch>
        </p:blipFill>
        <p:spPr>
          <a:xfrm>
            <a:off x="936480" y="999828"/>
            <a:ext cx="2985162" cy="2069413"/>
          </a:xfrm>
          <a:prstGeom prst="rect">
            <a:avLst/>
          </a:prstGeom>
          <a:ln>
            <a:noFill/>
          </a:ln>
          <a:effectLst>
            <a:outerShdw blurRad="152400" dist="317500" dir="5400000" sx="90000" sy="-19000" rotWithShape="0">
              <a:prstClr val="black">
                <a:alpha val="15000"/>
              </a:prst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sp>
        <p:nvSpPr>
          <p:cNvPr id="5" name="Arrow: Right 4">
            <a:extLst>
              <a:ext uri="{FF2B5EF4-FFF2-40B4-BE49-F238E27FC236}">
                <a16:creationId xmlns:a16="http://schemas.microsoft.com/office/drawing/2014/main" id="{5F364AF3-E5C0-A981-9E0F-753C722B4438}"/>
              </a:ext>
            </a:extLst>
          </p:cNvPr>
          <p:cNvSpPr/>
          <p:nvPr/>
        </p:nvSpPr>
        <p:spPr>
          <a:xfrm>
            <a:off x="4182201" y="1704825"/>
            <a:ext cx="3462936" cy="643152"/>
          </a:xfrm>
          <a:prstGeom prst="rightArrow">
            <a:avLst/>
          </a:prstGeom>
          <a:ln w="38100">
            <a:solidFill>
              <a:srgbClr val="7030A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6" name="TextBox 5">
            <a:extLst>
              <a:ext uri="{FF2B5EF4-FFF2-40B4-BE49-F238E27FC236}">
                <a16:creationId xmlns:a16="http://schemas.microsoft.com/office/drawing/2014/main" id="{F3367C2F-A0A6-A76B-B0B2-3452CA71BD39}"/>
              </a:ext>
            </a:extLst>
          </p:cNvPr>
          <p:cNvSpPr txBox="1"/>
          <p:nvPr/>
        </p:nvSpPr>
        <p:spPr>
          <a:xfrm>
            <a:off x="5018305" y="1393345"/>
            <a:ext cx="1778539"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After doing</a:t>
            </a:r>
          </a:p>
        </p:txBody>
      </p:sp>
      <p:sp>
        <p:nvSpPr>
          <p:cNvPr id="7" name="TextBox 6">
            <a:extLst>
              <a:ext uri="{FF2B5EF4-FFF2-40B4-BE49-F238E27FC236}">
                <a16:creationId xmlns:a16="http://schemas.microsoft.com/office/drawing/2014/main" id="{C1DBA7F2-DFA9-92BB-1C04-15A857EA27F0}"/>
              </a:ext>
            </a:extLst>
          </p:cNvPr>
          <p:cNvSpPr txBox="1"/>
          <p:nvPr/>
        </p:nvSpPr>
        <p:spPr>
          <a:xfrm>
            <a:off x="4633394" y="2223286"/>
            <a:ext cx="2571751"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 Literature Review</a:t>
            </a:r>
          </a:p>
        </p:txBody>
      </p:sp>
      <p:pic>
        <p:nvPicPr>
          <p:cNvPr id="8" name="Picture 7">
            <a:extLst>
              <a:ext uri="{FF2B5EF4-FFF2-40B4-BE49-F238E27FC236}">
                <a16:creationId xmlns:a16="http://schemas.microsoft.com/office/drawing/2014/main" id="{4ADD3BD9-2CC8-474C-72F4-966C88221D4A}"/>
              </a:ext>
            </a:extLst>
          </p:cNvPr>
          <p:cNvPicPr>
            <a:picLocks noChangeAspect="1"/>
          </p:cNvPicPr>
          <p:nvPr/>
        </p:nvPicPr>
        <p:blipFill>
          <a:blip r:embed="rId3"/>
          <a:stretch>
            <a:fillRect/>
          </a:stretch>
        </p:blipFill>
        <p:spPr>
          <a:xfrm>
            <a:off x="7321780" y="1180798"/>
            <a:ext cx="3544916" cy="1937613"/>
          </a:xfrm>
          <a:prstGeom prst="rect">
            <a:avLst/>
          </a:prstGeom>
          <a:ln>
            <a:noFill/>
          </a:ln>
          <a:effectLst>
            <a:outerShdw blurRad="152400" dist="317500" dir="5400000" sx="90000" sy="-19000" rotWithShape="0">
              <a:prstClr val="black">
                <a:alpha val="15000"/>
              </a:prstClr>
            </a:outerShdw>
          </a:effectLst>
          <a:scene3d>
            <a:camera prst="perspectiveFront" fov="5100000">
              <a:rot lat="0" lon="2100000" rev="0"/>
            </a:camera>
            <a:lightRig rig="flood" dir="t">
              <a:rot lat="0" lon="0" rev="13800000"/>
            </a:lightRig>
          </a:scene3d>
          <a:sp3d extrusionH="107950" prstMaterial="plastic">
            <a:bevelT w="82550" h="63500" prst="divot"/>
            <a:bevelB/>
          </a:sp3d>
        </p:spPr>
      </p:pic>
      <p:sp>
        <p:nvSpPr>
          <p:cNvPr id="9" name="TextBox 8">
            <a:extLst>
              <a:ext uri="{FF2B5EF4-FFF2-40B4-BE49-F238E27FC236}">
                <a16:creationId xmlns:a16="http://schemas.microsoft.com/office/drawing/2014/main" id="{F9ABC090-E58B-C81F-8556-C01A37CC7AA4}"/>
              </a:ext>
            </a:extLst>
          </p:cNvPr>
          <p:cNvSpPr txBox="1"/>
          <p:nvPr/>
        </p:nvSpPr>
        <p:spPr>
          <a:xfrm>
            <a:off x="754145" y="3800156"/>
            <a:ext cx="11153755" cy="2069413"/>
          </a:xfrm>
          <a:prstGeom prst="rect">
            <a:avLst/>
          </a:prstGeom>
          <a:noFill/>
        </p:spPr>
        <p:txBody>
          <a:bodyPr wrap="square" rtlCol="0">
            <a:spAutoFit/>
          </a:bodyPr>
          <a:lstStyle/>
          <a:p>
            <a:pPr marL="457200" marR="0" lvl="0" indent="-457200" algn="just">
              <a:lnSpc>
                <a:spcPct val="150000"/>
              </a:lnSpc>
              <a:buFont typeface="Wingdings" panose="05000000000000000000" pitchFamily="2" charset="2"/>
              <a:buChar char="q"/>
              <a:tabLst>
                <a:tab pos="742950" algn="l"/>
              </a:tabLst>
            </a:pPr>
            <a:r>
              <a:rPr lang="en-US" sz="2200" kern="100" dirty="0">
                <a:effectLst/>
                <a:latin typeface="Times New Roman" panose="02020603050405020304" pitchFamily="18" charset="0"/>
                <a:ea typeface="Calibri" panose="020F0502020204030204" pitchFamily="34" charset="0"/>
                <a:cs typeface="Times New Roman" panose="02020603050405020304" pitchFamily="18" charset="0"/>
              </a:rPr>
              <a:t>Limited research on mobile banking satisfaction specifically among students.</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buFont typeface="Wingdings" panose="05000000000000000000" pitchFamily="2" charset="2"/>
              <a:buChar char="q"/>
              <a:tabLst>
                <a:tab pos="800100" algn="l"/>
              </a:tabLst>
            </a:pPr>
            <a:r>
              <a:rPr lang="en-US" sz="2200" kern="100" dirty="0">
                <a:effectLst/>
                <a:latin typeface="Times New Roman" panose="02020603050405020304" pitchFamily="18" charset="0"/>
                <a:ea typeface="Calibri" panose="020F0502020204030204" pitchFamily="34" charset="0"/>
                <a:cs typeface="Times New Roman" panose="02020603050405020304" pitchFamily="18" charset="0"/>
              </a:rPr>
              <a:t>Only a few studies focused on mobile banking in the South Asian context.</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buFont typeface="Wingdings" panose="05000000000000000000" pitchFamily="2" charset="2"/>
              <a:buChar char="q"/>
              <a:tabLst>
                <a:tab pos="742950" algn="l"/>
                <a:tab pos="800100" algn="l"/>
              </a:tabLst>
            </a:pPr>
            <a:r>
              <a:rPr lang="en-US" sz="2200" kern="100" dirty="0">
                <a:effectLst/>
                <a:latin typeface="Times New Roman" panose="02020603050405020304" pitchFamily="18" charset="0"/>
                <a:ea typeface="Calibri" panose="020F0502020204030204" pitchFamily="34" charset="0"/>
                <a:cs typeface="Times New Roman" panose="02020603050405020304" pitchFamily="18" charset="0"/>
              </a:rPr>
              <a:t>Student-specific needs like ease of use, cost sensitivity, and quick support are underexplored.</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Wingdings" panose="05000000000000000000" pitchFamily="2" charset="2"/>
              <a:buChar char="q"/>
              <a:tabLst>
                <a:tab pos="685800" algn="l"/>
                <a:tab pos="800100" algn="l"/>
                <a:tab pos="914400" algn="l"/>
              </a:tabLst>
            </a:pPr>
            <a:r>
              <a:rPr lang="en-US" sz="2200" kern="100" dirty="0">
                <a:effectLst/>
                <a:latin typeface="Times New Roman" panose="02020603050405020304" pitchFamily="18" charset="0"/>
                <a:ea typeface="Calibri" panose="020F0502020204030204" pitchFamily="34" charset="0"/>
                <a:cs typeface="Times New Roman" panose="02020603050405020304" pitchFamily="18" charset="0"/>
              </a:rPr>
              <a:t>Limited examination of the impact of mobile banking on students' financial literacy.</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F9F02E9C-4338-14E8-52F8-D7B181EA002B}"/>
              </a:ext>
            </a:extLst>
          </p:cNvPr>
          <p:cNvSpPr/>
          <p:nvPr/>
        </p:nvSpPr>
        <p:spPr>
          <a:xfrm>
            <a:off x="-3763" y="5949535"/>
            <a:ext cx="12195763" cy="602159"/>
          </a:xfrm>
          <a:prstGeom prst="rect">
            <a:avLst/>
          </a:prstGeom>
          <a:solidFill>
            <a:srgbClr val="FFFFFF"/>
          </a:solidFill>
          <a:ln w="18000">
            <a:noFill/>
          </a:ln>
        </p:spPr>
        <p:style>
          <a:lnRef idx="0">
            <a:scrgbClr r="0" g="0" b="0"/>
          </a:lnRef>
          <a:fillRef idx="0">
            <a:scrgbClr r="0" g="0" b="0"/>
          </a:fillRef>
          <a:effectRef idx="0">
            <a:scrgbClr r="0" g="0" b="0"/>
          </a:effectRef>
          <a:fontRef idx="minor"/>
        </p:style>
      </p:sp>
      <p:sp>
        <p:nvSpPr>
          <p:cNvPr id="14" name="TextBox 13">
            <a:extLst>
              <a:ext uri="{FF2B5EF4-FFF2-40B4-BE49-F238E27FC236}">
                <a16:creationId xmlns:a16="http://schemas.microsoft.com/office/drawing/2014/main" id="{8D2EB8E6-DD43-23C6-71AE-1303B8CC1870}"/>
              </a:ext>
            </a:extLst>
          </p:cNvPr>
          <p:cNvSpPr txBox="1"/>
          <p:nvPr/>
        </p:nvSpPr>
        <p:spPr>
          <a:xfrm>
            <a:off x="11755417" y="6226175"/>
            <a:ext cx="46863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3711254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CCEB70-DA45-C1E4-305A-60440AF4CD9D}"/>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16BD4DE-25E4-3C62-BFC4-82B5A877937C}"/>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TextBox 130"/>
          <p:cNvSpPr txBox="1"/>
          <p:nvPr/>
        </p:nvSpPr>
        <p:spPr>
          <a:xfrm>
            <a:off x="435600" y="217693"/>
            <a:ext cx="11320045" cy="578193"/>
          </a:xfrm>
          <a:prstGeom prst="rect">
            <a:avLst/>
          </a:prstGeom>
          <a:noFill/>
          <a:ln w="0">
            <a:noFill/>
          </a:ln>
        </p:spPr>
        <p:txBody>
          <a:bodyPr lIns="0" tIns="0" rIns="0" bIns="0" anchor="ctr">
            <a:noAutofit/>
          </a:bodyPr>
          <a:lstStyle/>
          <a:p>
            <a:pPr defTabSz="1105875"/>
            <a:r>
              <a:rPr lang="en-GB" sz="3144" b="1" spc="-1" dirty="0">
                <a:latin typeface="Times New Roman"/>
                <a:ea typeface="DejaVu Sans"/>
              </a:rPr>
              <a:t>Materials and Methods</a:t>
            </a:r>
            <a:endParaRPr lang="en-GB" sz="3144" spc="-1" dirty="0">
              <a:latin typeface="Arial"/>
            </a:endParaRPr>
          </a:p>
        </p:txBody>
      </p:sp>
      <p:sp>
        <p:nvSpPr>
          <p:cNvPr id="2" name="Rectangle 1">
            <a:extLst>
              <a:ext uri="{FF2B5EF4-FFF2-40B4-BE49-F238E27FC236}">
                <a16:creationId xmlns:a16="http://schemas.microsoft.com/office/drawing/2014/main" id="{86E4473C-8576-52EC-F7B6-D4B09042EEF4}"/>
              </a:ext>
            </a:extLst>
          </p:cNvPr>
          <p:cNvSpPr/>
          <p:nvPr/>
        </p:nvSpPr>
        <p:spPr>
          <a:xfrm>
            <a:off x="-3764" y="6005570"/>
            <a:ext cx="12195763" cy="578192"/>
          </a:xfrm>
          <a:prstGeom prst="rect">
            <a:avLst/>
          </a:prstGeom>
          <a:solidFill>
            <a:srgbClr val="FFFFFF"/>
          </a:solidFill>
          <a:ln w="18000">
            <a:noFill/>
          </a:ln>
        </p:spPr>
        <p:style>
          <a:lnRef idx="0">
            <a:scrgbClr r="0" g="0" b="0"/>
          </a:lnRef>
          <a:fillRef idx="0">
            <a:scrgbClr r="0" g="0" b="0"/>
          </a:fillRef>
          <a:effectRef idx="0">
            <a:scrgbClr r="0" g="0" b="0"/>
          </a:effectRef>
          <a:fontRef idx="minor"/>
        </p:style>
      </p:sp>
      <p:sp>
        <p:nvSpPr>
          <p:cNvPr id="3" name="TextBox 2">
            <a:extLst>
              <a:ext uri="{FF2B5EF4-FFF2-40B4-BE49-F238E27FC236}">
                <a16:creationId xmlns:a16="http://schemas.microsoft.com/office/drawing/2014/main" id="{D00D853C-1C1A-5036-CFC4-E5BAAAA73F4F}"/>
              </a:ext>
            </a:extLst>
          </p:cNvPr>
          <p:cNvSpPr txBox="1"/>
          <p:nvPr/>
        </p:nvSpPr>
        <p:spPr>
          <a:xfrm>
            <a:off x="328273" y="938631"/>
            <a:ext cx="3084234" cy="892552"/>
          </a:xfrm>
          <a:prstGeom prst="rect">
            <a:avLst/>
          </a:prstGeom>
          <a:solidFill>
            <a:schemeClr val="bg1"/>
          </a:solidFill>
          <a:ln>
            <a:solidFill>
              <a:schemeClr val="accent5">
                <a:lumMod val="75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nchor="ctr">
            <a:spAutoFit/>
          </a:bodyPr>
          <a:lstStyle/>
          <a:p>
            <a:r>
              <a:rPr lang="en-US" sz="1600" b="1" dirty="0">
                <a:latin typeface="Times New Roman" panose="02020603050405020304" pitchFamily="18" charset="0"/>
                <a:cs typeface="Times New Roman" panose="02020603050405020304" pitchFamily="18" charset="0"/>
              </a:rPr>
              <a:t>1.Study area :</a:t>
            </a:r>
          </a:p>
          <a:p>
            <a:pPr marL="285750" indent="-285750" algn="ct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University of Rajshahi, Bangladesh</a:t>
            </a:r>
          </a:p>
        </p:txBody>
      </p:sp>
      <p:sp>
        <p:nvSpPr>
          <p:cNvPr id="4" name="TextBox 3">
            <a:extLst>
              <a:ext uri="{FF2B5EF4-FFF2-40B4-BE49-F238E27FC236}">
                <a16:creationId xmlns:a16="http://schemas.microsoft.com/office/drawing/2014/main" id="{2D30E91E-CF7B-0990-2F18-6CCE8E35CFC2}"/>
              </a:ext>
            </a:extLst>
          </p:cNvPr>
          <p:cNvSpPr txBox="1"/>
          <p:nvPr/>
        </p:nvSpPr>
        <p:spPr>
          <a:xfrm>
            <a:off x="4296954" y="947687"/>
            <a:ext cx="3084234" cy="954107"/>
          </a:xfrm>
          <a:prstGeom prst="rect">
            <a:avLst/>
          </a:prstGeom>
          <a:solidFill>
            <a:schemeClr val="bg1"/>
          </a:solidFill>
          <a:ln>
            <a:solidFill>
              <a:schemeClr val="accent5">
                <a:lumMod val="75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nchor="ctr">
            <a:spAutoFit/>
          </a:bodyPr>
          <a:lstStyle/>
          <a:p>
            <a:r>
              <a:rPr lang="en-US" sz="2000" b="1" dirty="0">
                <a:latin typeface="Times New Roman" panose="02020603050405020304" pitchFamily="18" charset="0"/>
                <a:cs typeface="Times New Roman" panose="02020603050405020304" pitchFamily="18" charset="0"/>
              </a:rPr>
              <a:t>2.Type of study:</a:t>
            </a:r>
          </a:p>
          <a:p>
            <a:pPr marL="285750" indent="-285750" algn="ct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Cross-sectional study: March,2024</a:t>
            </a:r>
          </a:p>
        </p:txBody>
      </p:sp>
      <p:sp>
        <p:nvSpPr>
          <p:cNvPr id="5" name="TextBox 4">
            <a:extLst>
              <a:ext uri="{FF2B5EF4-FFF2-40B4-BE49-F238E27FC236}">
                <a16:creationId xmlns:a16="http://schemas.microsoft.com/office/drawing/2014/main" id="{27341B64-89BA-583B-B9F0-525F9E61383E}"/>
              </a:ext>
            </a:extLst>
          </p:cNvPr>
          <p:cNvSpPr txBox="1"/>
          <p:nvPr/>
        </p:nvSpPr>
        <p:spPr>
          <a:xfrm>
            <a:off x="8209076" y="950239"/>
            <a:ext cx="3778875" cy="954107"/>
          </a:xfrm>
          <a:prstGeom prst="rect">
            <a:avLst/>
          </a:prstGeom>
          <a:solidFill>
            <a:schemeClr val="bg1"/>
          </a:solidFill>
          <a:ln>
            <a:solidFill>
              <a:schemeClr val="accent5">
                <a:lumMod val="75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nchor="ctr">
            <a:spAutoFit/>
          </a:bodyPr>
          <a:lstStyle/>
          <a:p>
            <a:r>
              <a:rPr lang="en-US" sz="2000" b="1" dirty="0">
                <a:latin typeface="Times New Roman" panose="02020603050405020304" pitchFamily="18" charset="0"/>
                <a:cs typeface="Times New Roman" panose="02020603050405020304" pitchFamily="18" charset="0"/>
              </a:rPr>
              <a:t>3.Study population :</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All Undergraduate and Graduate students</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BD4E5B8-E89E-FEBB-095D-505D31C53643}"/>
                  </a:ext>
                </a:extLst>
              </p:cNvPr>
              <p:cNvSpPr txBox="1"/>
              <p:nvPr/>
            </p:nvSpPr>
            <p:spPr>
              <a:xfrm>
                <a:off x="7914870" y="2421331"/>
                <a:ext cx="3778876" cy="1786899"/>
              </a:xfrm>
              <a:prstGeom prst="rect">
                <a:avLst/>
              </a:prstGeom>
              <a:solidFill>
                <a:schemeClr val="bg1"/>
              </a:solidFill>
              <a:ln>
                <a:solidFill>
                  <a:schemeClr val="accent5">
                    <a:lumMod val="75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nchor="ctr">
                <a:spAutoFit/>
              </a:bodyPr>
              <a:lstStyle/>
              <a:p>
                <a:r>
                  <a:rPr lang="en-US" sz="2000" b="1" dirty="0">
                    <a:latin typeface="Times New Roman" panose="02020603050405020304" pitchFamily="18" charset="0"/>
                    <a:cs typeface="Times New Roman" panose="02020603050405020304" pitchFamily="18" charset="0"/>
                  </a:rPr>
                  <a:t>4.Sample size :</a:t>
                </a:r>
                <a:endParaRPr lang="en-US" sz="2000" dirty="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US"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𝑧</m:t>
                              </m:r>
                            </m:e>
                            <m:sup>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num>
                        <m:den>
                          <m:sSup>
                            <m:sSup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𝑑</m:t>
                              </m:r>
                            </m:e>
                            <m:sup>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den>
                      </m:f>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=246</m:t>
                      </m:r>
                    </m:oMath>
                  </m:oMathPara>
                </a14:m>
                <a:endParaRPr lang="en-US" dirty="0">
                  <a:latin typeface="Times New Roman" panose="02020603050405020304" pitchFamily="18" charset="0"/>
                  <a:cs typeface="Times New Roman" panose="02020603050405020304" pitchFamily="18" charset="0"/>
                </a:endParaRPr>
              </a:p>
              <a:p>
                <a:r>
                  <a:rPr lang="en-US"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Here we considered</a:t>
                </a:r>
                <a:r>
                  <a:rPr lang="en-US"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r>
                  <a:rPr lang="en-US"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 = 0.2 (</a:t>
                </a:r>
                <a:r>
                  <a:rPr lang="en-US"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Akter, 2023),</a:t>
                </a:r>
                <a:r>
                  <a:rPr lang="en-US"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z</a:t>
                </a:r>
                <a:r>
                  <a:rPr lang="en-US"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 1.96 </a:t>
                </a:r>
                <a:r>
                  <a:rPr lang="en-US"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and d = 0.05 (margin of error)</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6" name="TextBox 5">
                <a:extLst>
                  <a:ext uri="{FF2B5EF4-FFF2-40B4-BE49-F238E27FC236}">
                    <a16:creationId xmlns:a16="http://schemas.microsoft.com/office/drawing/2014/main" id="{9BD4E5B8-E89E-FEBB-095D-505D31C53643}"/>
                  </a:ext>
                </a:extLst>
              </p:cNvPr>
              <p:cNvSpPr txBox="1">
                <a:spLocks noRot="1" noChangeAspect="1" noMove="1" noResize="1" noEditPoints="1" noAdjustHandles="1" noChangeArrowheads="1" noChangeShapeType="1" noTextEdit="1"/>
              </p:cNvSpPr>
              <p:nvPr/>
            </p:nvSpPr>
            <p:spPr>
              <a:xfrm>
                <a:off x="7914870" y="2421331"/>
                <a:ext cx="3778876" cy="1786899"/>
              </a:xfrm>
              <a:prstGeom prst="rect">
                <a:avLst/>
              </a:prstGeom>
              <a:blipFill>
                <a:blip r:embed="rId3"/>
                <a:stretch>
                  <a:fillRect/>
                </a:stretch>
              </a:blipFill>
              <a:ln>
                <a:solidFill>
                  <a:schemeClr val="accent5">
                    <a:lumMod val="75000"/>
                  </a:schemeClr>
                </a:solidFill>
              </a:ln>
              <a:effectLst>
                <a:outerShdw blurRad="44450" dist="27940" dir="5400000" algn="ctr">
                  <a:srgbClr val="000000">
                    <a:alpha val="32000"/>
                  </a:srgbClr>
                </a:outerShdw>
              </a:effectLst>
            </p:spPr>
            <p:txBody>
              <a:bodyPr/>
              <a:lstStyle/>
              <a:p>
                <a:r>
                  <a:rPr lang="en-US">
                    <a:noFill/>
                  </a:rPr>
                  <a:t> </a:t>
                </a:r>
              </a:p>
            </p:txBody>
          </p:sp>
        </mc:Fallback>
      </mc:AlternateContent>
      <p:sp>
        <p:nvSpPr>
          <p:cNvPr id="7" name="TextBox 6">
            <a:extLst>
              <a:ext uri="{FF2B5EF4-FFF2-40B4-BE49-F238E27FC236}">
                <a16:creationId xmlns:a16="http://schemas.microsoft.com/office/drawing/2014/main" id="{959BF847-EE94-8092-C63B-C26F5FDA1D45}"/>
              </a:ext>
            </a:extLst>
          </p:cNvPr>
          <p:cNvSpPr txBox="1"/>
          <p:nvPr/>
        </p:nvSpPr>
        <p:spPr>
          <a:xfrm>
            <a:off x="3938739" y="2818830"/>
            <a:ext cx="3272766" cy="1231106"/>
          </a:xfrm>
          <a:prstGeom prst="rect">
            <a:avLst/>
          </a:prstGeom>
          <a:solidFill>
            <a:schemeClr val="bg1"/>
          </a:solidFill>
          <a:ln>
            <a:solidFill>
              <a:schemeClr val="accent5">
                <a:lumMod val="75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nchor="ctr">
            <a:spAutoFit/>
          </a:bodyPr>
          <a:lstStyle/>
          <a:p>
            <a:pPr>
              <a:lnSpc>
                <a:spcPct val="100000"/>
              </a:lnSpc>
            </a:pPr>
            <a:r>
              <a:rPr lang="en-GB" sz="2000" b="1" strike="noStrike" spc="-1" dirty="0">
                <a:solidFill>
                  <a:srgbClr val="000000"/>
                </a:solidFill>
                <a:latin typeface="Times New Roman"/>
                <a:ea typeface="DejaVu Sans"/>
              </a:rPr>
              <a:t>5.Sampling procedure:</a:t>
            </a:r>
            <a:endParaRPr lang="en-GB" sz="2000" b="0" strike="noStrike" spc="-1" dirty="0">
              <a:latin typeface="Arial"/>
            </a:endParaRPr>
          </a:p>
          <a:p>
            <a:pPr marL="288000" indent="-214920">
              <a:lnSpc>
                <a:spcPct val="100000"/>
              </a:lnSpc>
              <a:buClr>
                <a:srgbClr val="000000"/>
              </a:buClr>
              <a:buSzPct val="45000"/>
              <a:buFont typeface="Wingdings" charset="2"/>
              <a:buChar char=""/>
            </a:pPr>
            <a:r>
              <a:rPr lang="en-GB" b="0" strike="noStrike" spc="-1" dirty="0">
                <a:solidFill>
                  <a:srgbClr val="000000"/>
                </a:solidFill>
                <a:latin typeface="Times New Roman"/>
                <a:ea typeface="DejaVu Sans"/>
              </a:rPr>
              <a:t>Two-stage sampling where</a:t>
            </a:r>
          </a:p>
          <a:p>
            <a:pPr marL="73080">
              <a:lnSpc>
                <a:spcPct val="100000"/>
              </a:lnSpc>
              <a:buClr>
                <a:srgbClr val="000000"/>
              </a:buClr>
              <a:buSzPct val="45000"/>
            </a:pPr>
            <a:r>
              <a:rPr lang="en-GB" b="0" strike="noStrike" spc="-1" dirty="0">
                <a:solidFill>
                  <a:srgbClr val="000000"/>
                </a:solidFill>
                <a:latin typeface="Times New Roman"/>
                <a:ea typeface="DejaVu Sans"/>
              </a:rPr>
              <a:t> Halls were the 1</a:t>
            </a:r>
            <a:r>
              <a:rPr lang="en-GB" b="0" strike="noStrike" spc="-1" baseline="33000" dirty="0">
                <a:solidFill>
                  <a:srgbClr val="000000"/>
                </a:solidFill>
                <a:latin typeface="Times New Roman"/>
                <a:ea typeface="DejaVu Sans"/>
              </a:rPr>
              <a:t>st</a:t>
            </a:r>
            <a:r>
              <a:rPr lang="en-GB" b="0" strike="noStrike" spc="-1" dirty="0">
                <a:solidFill>
                  <a:srgbClr val="000000"/>
                </a:solidFill>
                <a:latin typeface="Times New Roman"/>
                <a:ea typeface="DejaVu Sans"/>
              </a:rPr>
              <a:t> stage and Students were the  2</a:t>
            </a:r>
            <a:r>
              <a:rPr lang="en-GB" b="0" strike="noStrike" spc="-1" baseline="30000" dirty="0">
                <a:solidFill>
                  <a:srgbClr val="000000"/>
                </a:solidFill>
                <a:latin typeface="Times New Roman"/>
                <a:ea typeface="DejaVu Sans"/>
              </a:rPr>
              <a:t>nd</a:t>
            </a:r>
            <a:r>
              <a:rPr lang="en-GB" spc="-1" baseline="14000000" dirty="0">
                <a:solidFill>
                  <a:srgbClr val="000000"/>
                </a:solidFill>
                <a:latin typeface="Times New Roman"/>
                <a:ea typeface="DejaVu Sans"/>
              </a:rPr>
              <a:t> </a:t>
            </a:r>
            <a:r>
              <a:rPr lang="en-GB" b="0" strike="noStrike" spc="-1" dirty="0">
                <a:solidFill>
                  <a:srgbClr val="000000"/>
                </a:solidFill>
                <a:latin typeface="Times New Roman"/>
                <a:ea typeface="DejaVu Sans"/>
              </a:rPr>
              <a:t>stage unit</a:t>
            </a:r>
            <a:endParaRPr lang="en-GB" b="0" strike="noStrike" spc="-1" dirty="0">
              <a:latin typeface="Arial"/>
            </a:endParaRPr>
          </a:p>
        </p:txBody>
      </p:sp>
      <p:sp>
        <p:nvSpPr>
          <p:cNvPr id="8" name="TextBox 7">
            <a:extLst>
              <a:ext uri="{FF2B5EF4-FFF2-40B4-BE49-F238E27FC236}">
                <a16:creationId xmlns:a16="http://schemas.microsoft.com/office/drawing/2014/main" id="{8FC30B2B-1931-D317-9302-D057E6AA8668}"/>
              </a:ext>
            </a:extLst>
          </p:cNvPr>
          <p:cNvSpPr txBox="1"/>
          <p:nvPr/>
        </p:nvSpPr>
        <p:spPr>
          <a:xfrm>
            <a:off x="184084" y="2540237"/>
            <a:ext cx="3171267" cy="1785104"/>
          </a:xfrm>
          <a:prstGeom prst="rect">
            <a:avLst/>
          </a:prstGeom>
          <a:solidFill>
            <a:schemeClr val="bg1"/>
          </a:solidFill>
          <a:ln>
            <a:solidFill>
              <a:schemeClr val="accent5">
                <a:lumMod val="75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nchor="ctr">
            <a:spAutoFit/>
          </a:bodyPr>
          <a:lstStyle/>
          <a:p>
            <a:pPr defTabSz="1105875"/>
            <a:r>
              <a:rPr lang="en-GB" sz="2000" b="1" spc="-1" dirty="0">
                <a:solidFill>
                  <a:srgbClr val="000000"/>
                </a:solidFill>
                <a:latin typeface="Times New Roman"/>
                <a:ea typeface="DejaVu Sans"/>
              </a:rPr>
              <a:t>6.Data collection:</a:t>
            </a:r>
            <a:endParaRPr lang="en-GB" sz="2000" spc="-1" dirty="0">
              <a:solidFill>
                <a:prstClr val="black"/>
              </a:solidFill>
              <a:latin typeface="Arial"/>
            </a:endParaRPr>
          </a:p>
          <a:p>
            <a:pPr marL="348307" indent="-259924" defTabSz="1105875">
              <a:buClr>
                <a:srgbClr val="000000"/>
              </a:buClr>
              <a:buSzPct val="45000"/>
              <a:buFont typeface="Wingdings" charset="2"/>
              <a:buChar char=""/>
            </a:pPr>
            <a:r>
              <a:rPr lang="en-GB" spc="-1" dirty="0">
                <a:solidFill>
                  <a:srgbClr val="000000"/>
                </a:solidFill>
                <a:latin typeface="Times New Roman"/>
                <a:ea typeface="DejaVu Sans"/>
              </a:rPr>
              <a:t>A self-administer partially</a:t>
            </a:r>
            <a:r>
              <a:rPr lang="en-GB" spc="-1" dirty="0">
                <a:solidFill>
                  <a:prstClr val="black"/>
                </a:solidFill>
                <a:latin typeface="Arial"/>
              </a:rPr>
              <a:t> </a:t>
            </a:r>
            <a:r>
              <a:rPr lang="en-GB" spc="-1" dirty="0">
                <a:solidFill>
                  <a:srgbClr val="000000"/>
                </a:solidFill>
                <a:latin typeface="Times New Roman"/>
                <a:ea typeface="DejaVu Sans"/>
              </a:rPr>
              <a:t>structured questionnaire </a:t>
            </a:r>
            <a:endParaRPr lang="en-GB" spc="-1" dirty="0">
              <a:solidFill>
                <a:prstClr val="black"/>
              </a:solidFill>
              <a:latin typeface="Arial"/>
            </a:endParaRPr>
          </a:p>
          <a:p>
            <a:pPr marL="348307" indent="-259924" defTabSz="1105875">
              <a:buClr>
                <a:srgbClr val="000000"/>
              </a:buClr>
              <a:buSzPct val="45000"/>
              <a:buFont typeface="Wingdings" charset="2"/>
              <a:buChar char=""/>
            </a:pPr>
            <a:r>
              <a:rPr lang="en-GB" spc="-1" dirty="0">
                <a:solidFill>
                  <a:srgbClr val="000000"/>
                </a:solidFill>
                <a:latin typeface="Times New Roman"/>
                <a:ea typeface="DejaVu Sans"/>
              </a:rPr>
              <a:t>Pilot survey to improve the efficiency of the main survey</a:t>
            </a:r>
            <a:endParaRPr lang="en-GB" spc="-1" dirty="0">
              <a:solidFill>
                <a:prstClr val="black"/>
              </a:solidFill>
              <a:latin typeface="Arial"/>
            </a:endParaRPr>
          </a:p>
        </p:txBody>
      </p:sp>
      <p:sp>
        <p:nvSpPr>
          <p:cNvPr id="9" name="TextBox 8">
            <a:extLst>
              <a:ext uri="{FF2B5EF4-FFF2-40B4-BE49-F238E27FC236}">
                <a16:creationId xmlns:a16="http://schemas.microsoft.com/office/drawing/2014/main" id="{2772642D-F489-E880-6A79-BABA427529E9}"/>
              </a:ext>
            </a:extLst>
          </p:cNvPr>
          <p:cNvSpPr txBox="1"/>
          <p:nvPr/>
        </p:nvSpPr>
        <p:spPr>
          <a:xfrm>
            <a:off x="2635187" y="4769795"/>
            <a:ext cx="4145827" cy="1631216"/>
          </a:xfrm>
          <a:prstGeom prst="rect">
            <a:avLst/>
          </a:prstGeom>
          <a:solidFill>
            <a:schemeClr val="bg1"/>
          </a:solidFill>
          <a:ln>
            <a:solidFill>
              <a:schemeClr val="accent5">
                <a:lumMod val="75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nchor="ctr">
            <a:spAutoFit/>
          </a:bodyPr>
          <a:lstStyle/>
          <a:p>
            <a:pPr algn="just" defTabSz="1105875"/>
            <a:r>
              <a:rPr lang="en-GB" sz="2000" b="1" spc="-1" dirty="0">
                <a:solidFill>
                  <a:srgbClr val="000000"/>
                </a:solidFill>
                <a:latin typeface="Times New Roman"/>
                <a:ea typeface="DejaVu Sans"/>
              </a:rPr>
              <a:t>7.Data management:</a:t>
            </a:r>
            <a:endParaRPr lang="en-GB" sz="2000" spc="-1" dirty="0">
              <a:solidFill>
                <a:prstClr val="black"/>
              </a:solidFill>
              <a:latin typeface="Arial"/>
            </a:endParaRPr>
          </a:p>
          <a:p>
            <a:pPr marL="348307" indent="-259924" algn="just" defTabSz="1105875">
              <a:buClr>
                <a:srgbClr val="000000"/>
              </a:buClr>
              <a:buSzPct val="45000"/>
              <a:buFont typeface="Wingdings" charset="2"/>
              <a:buChar char=""/>
            </a:pPr>
            <a:r>
              <a:rPr lang="en-GB" sz="2000" spc="-1" dirty="0">
                <a:solidFill>
                  <a:srgbClr val="000000"/>
                </a:solidFill>
                <a:latin typeface="Times New Roman"/>
                <a:ea typeface="DejaVu Sans"/>
              </a:rPr>
              <a:t>Data was coded and entered into computer by SPSS</a:t>
            </a:r>
            <a:endParaRPr lang="en-GB" sz="2000" spc="-1" dirty="0">
              <a:solidFill>
                <a:prstClr val="black"/>
              </a:solidFill>
              <a:latin typeface="Arial"/>
            </a:endParaRPr>
          </a:p>
          <a:p>
            <a:pPr marL="348307" indent="-259924" algn="just" defTabSz="1105875">
              <a:buClr>
                <a:srgbClr val="000000"/>
              </a:buClr>
              <a:buSzPct val="45000"/>
              <a:buFont typeface="Wingdings" charset="2"/>
              <a:buChar char=""/>
            </a:pPr>
            <a:r>
              <a:rPr lang="en-GB" sz="2000" spc="-1" dirty="0">
                <a:solidFill>
                  <a:srgbClr val="1C1C1C"/>
                </a:solidFill>
                <a:latin typeface="Times New Roman"/>
                <a:ea typeface="Times New Roman"/>
              </a:rPr>
              <a:t>Cleaning all inconsistent, missing observation from data sets.</a:t>
            </a:r>
            <a:endParaRPr lang="en-GB" sz="2000" spc="-1" dirty="0">
              <a:solidFill>
                <a:prstClr val="black"/>
              </a:solidFill>
              <a:latin typeface="Arial"/>
            </a:endParaRPr>
          </a:p>
        </p:txBody>
      </p:sp>
      <p:sp>
        <p:nvSpPr>
          <p:cNvPr id="10" name="TextBox 9">
            <a:extLst>
              <a:ext uri="{FF2B5EF4-FFF2-40B4-BE49-F238E27FC236}">
                <a16:creationId xmlns:a16="http://schemas.microsoft.com/office/drawing/2014/main" id="{2DAED60A-9F12-6497-51C9-ABB9F07FA949}"/>
              </a:ext>
            </a:extLst>
          </p:cNvPr>
          <p:cNvSpPr txBox="1"/>
          <p:nvPr/>
        </p:nvSpPr>
        <p:spPr>
          <a:xfrm>
            <a:off x="7483899" y="4769795"/>
            <a:ext cx="4145827" cy="1631216"/>
          </a:xfrm>
          <a:prstGeom prst="rect">
            <a:avLst/>
          </a:prstGeom>
          <a:solidFill>
            <a:schemeClr val="bg1"/>
          </a:solidFill>
          <a:ln>
            <a:solidFill>
              <a:schemeClr val="accent5">
                <a:lumMod val="75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nchor="ctr">
            <a:spAutoFit/>
          </a:bodyPr>
          <a:lstStyle/>
          <a:p>
            <a:pPr defTabSz="1105875"/>
            <a:r>
              <a:rPr lang="en-GB" sz="2000" b="1" spc="-1" dirty="0">
                <a:solidFill>
                  <a:srgbClr val="000000"/>
                </a:solidFill>
                <a:latin typeface="Times New Roman"/>
                <a:ea typeface="DejaVu Sans"/>
              </a:rPr>
              <a:t>8.Data analysis technique:</a:t>
            </a:r>
            <a:endParaRPr lang="en-GB" sz="2000" spc="-1" dirty="0">
              <a:solidFill>
                <a:prstClr val="black"/>
              </a:solidFill>
              <a:latin typeface="Arial"/>
            </a:endParaRPr>
          </a:p>
          <a:p>
            <a:pPr marL="348307" indent="-259924" defTabSz="1105875">
              <a:buClr>
                <a:srgbClr val="000000"/>
              </a:buClr>
              <a:buSzPct val="45000"/>
              <a:buFont typeface="Wingdings" charset="2"/>
              <a:buChar char=""/>
            </a:pPr>
            <a:r>
              <a:rPr lang="en-GB" sz="2000" spc="-1" dirty="0">
                <a:solidFill>
                  <a:srgbClr val="000000"/>
                </a:solidFill>
                <a:latin typeface="Times New Roman"/>
                <a:ea typeface="DejaVu Sans"/>
              </a:rPr>
              <a:t>Descriptive statistics</a:t>
            </a:r>
            <a:endParaRPr lang="en-GB" sz="2000" spc="-1" dirty="0">
              <a:solidFill>
                <a:prstClr val="black"/>
              </a:solidFill>
              <a:latin typeface="Arial"/>
            </a:endParaRPr>
          </a:p>
          <a:p>
            <a:pPr marL="348307" indent="-259924" defTabSz="1105875">
              <a:buClr>
                <a:srgbClr val="000000"/>
              </a:buClr>
              <a:buSzPct val="45000"/>
              <a:buFont typeface="Wingdings" charset="2"/>
              <a:buChar char=""/>
            </a:pPr>
            <a:r>
              <a:rPr lang="en-GB" sz="2000" spc="-1" dirty="0">
                <a:solidFill>
                  <a:srgbClr val="000000"/>
                </a:solidFill>
                <a:latin typeface="Times New Roman"/>
                <a:ea typeface="DejaVu Sans"/>
              </a:rPr>
              <a:t>Frequency distribution</a:t>
            </a:r>
            <a:endParaRPr lang="en-GB" sz="2000" spc="-1" dirty="0">
              <a:solidFill>
                <a:prstClr val="black"/>
              </a:solidFill>
              <a:latin typeface="Arial"/>
            </a:endParaRPr>
          </a:p>
          <a:p>
            <a:pPr marL="348307" indent="-259924" defTabSz="1105875">
              <a:buClr>
                <a:srgbClr val="000000"/>
              </a:buClr>
              <a:buSzPct val="45000"/>
              <a:buFont typeface="Wingdings" charset="2"/>
              <a:buChar char=""/>
            </a:pPr>
            <a:r>
              <a:rPr lang="en-GB" sz="2000" spc="-1" dirty="0">
                <a:solidFill>
                  <a:srgbClr val="000000"/>
                </a:solidFill>
                <a:latin typeface="Times New Roman"/>
                <a:ea typeface="DejaVu Sans"/>
              </a:rPr>
              <a:t>Association</a:t>
            </a:r>
            <a:endParaRPr lang="en-GB" sz="2000" spc="-1" dirty="0">
              <a:solidFill>
                <a:prstClr val="black"/>
              </a:solidFill>
              <a:latin typeface="Arial"/>
            </a:endParaRPr>
          </a:p>
          <a:p>
            <a:pPr marL="348307" indent="-259924" defTabSz="1105875">
              <a:buClr>
                <a:srgbClr val="000000"/>
              </a:buClr>
              <a:buSzPct val="45000"/>
              <a:buFont typeface="Wingdings" charset="2"/>
              <a:buChar char=""/>
            </a:pPr>
            <a:r>
              <a:rPr lang="en-GB" sz="2000" spc="-1" dirty="0">
                <a:solidFill>
                  <a:srgbClr val="000000"/>
                </a:solidFill>
                <a:latin typeface="Times New Roman"/>
                <a:ea typeface="DejaVu Sans"/>
              </a:rPr>
              <a:t>Logistic regression</a:t>
            </a:r>
            <a:endParaRPr lang="en-GB" sz="2000" spc="-1" dirty="0">
              <a:solidFill>
                <a:prstClr val="black"/>
              </a:solidFill>
              <a:latin typeface="Arial"/>
            </a:endParaRPr>
          </a:p>
        </p:txBody>
      </p:sp>
      <p:sp>
        <p:nvSpPr>
          <p:cNvPr id="11" name="Arrow: Right 10">
            <a:extLst>
              <a:ext uri="{FF2B5EF4-FFF2-40B4-BE49-F238E27FC236}">
                <a16:creationId xmlns:a16="http://schemas.microsoft.com/office/drawing/2014/main" id="{EA6D0E9D-A28B-04EA-0AA6-00F6D3F48541}"/>
              </a:ext>
            </a:extLst>
          </p:cNvPr>
          <p:cNvSpPr/>
          <p:nvPr/>
        </p:nvSpPr>
        <p:spPr>
          <a:xfrm>
            <a:off x="3584383" y="1252933"/>
            <a:ext cx="572839" cy="347610"/>
          </a:xfrm>
          <a:prstGeom prst="rightArrow">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Arrow: Right 11">
            <a:extLst>
              <a:ext uri="{FF2B5EF4-FFF2-40B4-BE49-F238E27FC236}">
                <a16:creationId xmlns:a16="http://schemas.microsoft.com/office/drawing/2014/main" id="{815AD198-AFBF-E528-0AEF-3517636CD78F}"/>
              </a:ext>
            </a:extLst>
          </p:cNvPr>
          <p:cNvSpPr/>
          <p:nvPr/>
        </p:nvSpPr>
        <p:spPr>
          <a:xfrm>
            <a:off x="7483899" y="1252933"/>
            <a:ext cx="572839" cy="347610"/>
          </a:xfrm>
          <a:prstGeom prst="rightArrow">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Arrow: Right 12">
            <a:extLst>
              <a:ext uri="{FF2B5EF4-FFF2-40B4-BE49-F238E27FC236}">
                <a16:creationId xmlns:a16="http://schemas.microsoft.com/office/drawing/2014/main" id="{FFD39DCC-755A-3989-C7AB-029CBB8E583D}"/>
              </a:ext>
            </a:extLst>
          </p:cNvPr>
          <p:cNvSpPr/>
          <p:nvPr/>
        </p:nvSpPr>
        <p:spPr>
          <a:xfrm>
            <a:off x="6846037" y="5411598"/>
            <a:ext cx="572839" cy="347610"/>
          </a:xfrm>
          <a:prstGeom prst="rightArrow">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Arrow: Right 13">
            <a:extLst>
              <a:ext uri="{FF2B5EF4-FFF2-40B4-BE49-F238E27FC236}">
                <a16:creationId xmlns:a16="http://schemas.microsoft.com/office/drawing/2014/main" id="{827A316C-DB1D-35F0-6AE6-9004E1AA8F0E}"/>
              </a:ext>
            </a:extLst>
          </p:cNvPr>
          <p:cNvSpPr/>
          <p:nvPr/>
        </p:nvSpPr>
        <p:spPr>
          <a:xfrm rot="5400000">
            <a:off x="9669417" y="1939441"/>
            <a:ext cx="375913" cy="439760"/>
          </a:xfrm>
          <a:prstGeom prst="rightArrow">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Arrow: Right 15">
            <a:extLst>
              <a:ext uri="{FF2B5EF4-FFF2-40B4-BE49-F238E27FC236}">
                <a16:creationId xmlns:a16="http://schemas.microsoft.com/office/drawing/2014/main" id="{34959110-53EF-4CA6-83B3-DB78A95C5841}"/>
              </a:ext>
            </a:extLst>
          </p:cNvPr>
          <p:cNvSpPr/>
          <p:nvPr/>
        </p:nvSpPr>
        <p:spPr>
          <a:xfrm rot="10800000">
            <a:off x="7276768" y="3198565"/>
            <a:ext cx="572839" cy="347610"/>
          </a:xfrm>
          <a:prstGeom prst="rightArrow">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Arrow: Right 16">
            <a:extLst>
              <a:ext uri="{FF2B5EF4-FFF2-40B4-BE49-F238E27FC236}">
                <a16:creationId xmlns:a16="http://schemas.microsoft.com/office/drawing/2014/main" id="{BAB6B166-FB7E-CB31-A27E-FACFB0A2E871}"/>
              </a:ext>
            </a:extLst>
          </p:cNvPr>
          <p:cNvSpPr/>
          <p:nvPr/>
        </p:nvSpPr>
        <p:spPr>
          <a:xfrm rot="10800000">
            <a:off x="3442253" y="3192488"/>
            <a:ext cx="409585" cy="347610"/>
          </a:xfrm>
          <a:prstGeom prst="rightArrow">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 name="Arrow: Bent-Up 20">
            <a:extLst>
              <a:ext uri="{FF2B5EF4-FFF2-40B4-BE49-F238E27FC236}">
                <a16:creationId xmlns:a16="http://schemas.microsoft.com/office/drawing/2014/main" id="{7989E0B7-5868-4DE9-505B-FDC1E5BD5A24}"/>
              </a:ext>
            </a:extLst>
          </p:cNvPr>
          <p:cNvSpPr/>
          <p:nvPr/>
        </p:nvSpPr>
        <p:spPr>
          <a:xfrm rot="5400000">
            <a:off x="1180934" y="4904385"/>
            <a:ext cx="1239025" cy="966595"/>
          </a:xfrm>
          <a:prstGeom prst="bentUpArrow">
            <a:avLst/>
          </a:prstGeom>
          <a:solidFill>
            <a:srgbClr val="B3C7DD"/>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DA5B542-8011-20E8-C3EB-23D0184B1C4F}"/>
              </a:ext>
            </a:extLst>
          </p:cNvPr>
          <p:cNvSpPr txBox="1"/>
          <p:nvPr/>
        </p:nvSpPr>
        <p:spPr>
          <a:xfrm>
            <a:off x="11755417" y="6226175"/>
            <a:ext cx="46863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BD87C74-20B5-5920-2D9D-CCE87A12C5BF}"/>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9F3579F-9F2D-25BD-40B0-19786017692D}"/>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E27B802-9CC5-F004-DC52-362A97CCEC9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48692" y="1014913"/>
            <a:ext cx="6494616" cy="3832812"/>
          </a:xfrm>
          <a:prstGeom prst="rect">
            <a:avLst/>
          </a:prstGeom>
          <a:noFill/>
          <a:ln w="3175">
            <a:solidFill>
              <a:schemeClr val="tx1"/>
            </a:solidFill>
          </a:ln>
        </p:spPr>
      </p:pic>
      <p:sp>
        <p:nvSpPr>
          <p:cNvPr id="5" name="TextBox 4">
            <a:extLst>
              <a:ext uri="{FF2B5EF4-FFF2-40B4-BE49-F238E27FC236}">
                <a16:creationId xmlns:a16="http://schemas.microsoft.com/office/drawing/2014/main" id="{CA458C17-65C6-612A-8686-0F114E1465FC}"/>
              </a:ext>
            </a:extLst>
          </p:cNvPr>
          <p:cNvSpPr txBox="1"/>
          <p:nvPr/>
        </p:nvSpPr>
        <p:spPr>
          <a:xfrm>
            <a:off x="3084249" y="5204558"/>
            <a:ext cx="6023502" cy="638529"/>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 1: </a:t>
            </a:r>
            <a:r>
              <a:rPr lang="en-US" dirty="0">
                <a:latin typeface="Times New Roman" panose="02020603050405020304" pitchFamily="18" charset="0"/>
                <a:ea typeface="Calibri" panose="020F0502020204030204" pitchFamily="34" charset="0"/>
                <a:cs typeface="Times New Roman" panose="02020603050405020304" pitchFamily="18" charset="0"/>
              </a:rPr>
              <a:t>S</a:t>
            </a:r>
            <a:r>
              <a:rPr lang="en-US" sz="1800" dirty="0">
                <a:effectLst/>
                <a:latin typeface="Times New Roman" panose="02020603050405020304" pitchFamily="18" charset="0"/>
                <a:ea typeface="Calibri" panose="020F0502020204030204" pitchFamily="34" charset="0"/>
              </a:rPr>
              <a:t>atisfaction level with overall mobile banking experience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293A2B5-95EF-2FF7-138E-7D5584830A11}"/>
              </a:ext>
            </a:extLst>
          </p:cNvPr>
          <p:cNvSpPr txBox="1"/>
          <p:nvPr/>
        </p:nvSpPr>
        <p:spPr>
          <a:xfrm>
            <a:off x="360000" y="180000"/>
            <a:ext cx="9360000" cy="478080"/>
          </a:xfrm>
          <a:prstGeom prst="rect">
            <a:avLst/>
          </a:prstGeom>
          <a:noFill/>
          <a:ln w="0">
            <a:noFill/>
          </a:ln>
        </p:spPr>
        <p:txBody>
          <a:bodyPr lIns="0" tIns="0" rIns="0" bIns="0" anchor="ctr">
            <a:noAutofit/>
          </a:bodyPr>
          <a:lstStyle/>
          <a:p>
            <a:pPr>
              <a:lnSpc>
                <a:spcPct val="100000"/>
              </a:lnSpc>
            </a:pPr>
            <a:r>
              <a:rPr lang="en-GB" sz="2400" b="1" strike="noStrike" spc="-1" dirty="0">
                <a:latin typeface="Times New Roman"/>
                <a:ea typeface="DejaVu Sans"/>
              </a:rPr>
              <a:t>Research Findings &amp; Discussion</a:t>
            </a:r>
            <a:endParaRPr lang="en-GB" sz="2400" b="0" strike="noStrike" spc="-1" dirty="0">
              <a:latin typeface="Arial"/>
            </a:endParaRPr>
          </a:p>
        </p:txBody>
      </p:sp>
      <p:sp>
        <p:nvSpPr>
          <p:cNvPr id="7" name="Rectangle 6">
            <a:extLst>
              <a:ext uri="{FF2B5EF4-FFF2-40B4-BE49-F238E27FC236}">
                <a16:creationId xmlns:a16="http://schemas.microsoft.com/office/drawing/2014/main" id="{D86227BB-50DC-BFEB-6A93-6ABBEA86D1F2}"/>
              </a:ext>
            </a:extLst>
          </p:cNvPr>
          <p:cNvSpPr/>
          <p:nvPr/>
        </p:nvSpPr>
        <p:spPr>
          <a:xfrm>
            <a:off x="-3764" y="6005570"/>
            <a:ext cx="12195763" cy="578192"/>
          </a:xfrm>
          <a:prstGeom prst="rect">
            <a:avLst/>
          </a:prstGeom>
          <a:solidFill>
            <a:srgbClr val="FFFFFF"/>
          </a:solidFill>
          <a:ln w="18000">
            <a:noFill/>
          </a:ln>
        </p:spPr>
        <p:style>
          <a:lnRef idx="0">
            <a:scrgbClr r="0" g="0" b="0"/>
          </a:lnRef>
          <a:fillRef idx="0">
            <a:scrgbClr r="0" g="0" b="0"/>
          </a:fillRef>
          <a:effectRef idx="0">
            <a:scrgbClr r="0" g="0" b="0"/>
          </a:effectRef>
          <a:fontRef idx="minor"/>
        </p:style>
      </p:sp>
      <p:sp>
        <p:nvSpPr>
          <p:cNvPr id="10" name="TextBox 9">
            <a:extLst>
              <a:ext uri="{FF2B5EF4-FFF2-40B4-BE49-F238E27FC236}">
                <a16:creationId xmlns:a16="http://schemas.microsoft.com/office/drawing/2014/main" id="{978D8D87-330A-78EF-0D82-056EE0DFC0F4}"/>
              </a:ext>
            </a:extLst>
          </p:cNvPr>
          <p:cNvSpPr txBox="1"/>
          <p:nvPr/>
        </p:nvSpPr>
        <p:spPr>
          <a:xfrm>
            <a:off x="11755417" y="6226175"/>
            <a:ext cx="46863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3702566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9F36A-1FB1-B45A-3E47-756BB792436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58FF8E6-1D4F-5BA1-2694-66E069375409}"/>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6FC3CE4-2463-CDB2-EAB3-7EAC2F9FBE6C}"/>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E5B8323-3D01-01E8-C598-DD62F4278030}"/>
              </a:ext>
            </a:extLst>
          </p:cNvPr>
          <p:cNvSpPr txBox="1"/>
          <p:nvPr/>
        </p:nvSpPr>
        <p:spPr>
          <a:xfrm>
            <a:off x="526806" y="1144903"/>
            <a:ext cx="4214876" cy="553998"/>
          </a:xfrm>
          <a:prstGeom prst="rect">
            <a:avLst/>
          </a:prstGeom>
          <a:noFill/>
        </p:spPr>
        <p:txBody>
          <a:bodyPr wrap="square" rtlCol="0">
            <a:spAutoFit/>
          </a:bodyPr>
          <a:lstStyle/>
          <a:p>
            <a:pPr algn="just">
              <a:lnSpc>
                <a:spcPct val="100000"/>
              </a:lnSpc>
            </a:pPr>
            <a:r>
              <a:rPr lang="en-US" sz="1400" b="1" dirty="0">
                <a:latin typeface="Times New Roman" panose="02020603050405020304" pitchFamily="18" charset="0"/>
                <a:cs typeface="Times New Roman" panose="02020603050405020304" pitchFamily="18" charset="0"/>
              </a:rPr>
              <a:t>Table 1: </a:t>
            </a:r>
            <a:r>
              <a:rPr lang="en-GB" sz="1400" b="0" strike="noStrike" spc="-1" dirty="0">
                <a:solidFill>
                  <a:srgbClr val="000000"/>
                </a:solidFill>
                <a:latin typeface="Times New Roman"/>
                <a:ea typeface="DejaVu Sans"/>
              </a:rPr>
              <a:t>Demographic information of the respondents</a:t>
            </a:r>
            <a:endParaRPr lang="en-GB" sz="1400" b="0" strike="noStrike" spc="-1" dirty="0">
              <a:latin typeface="Arial"/>
            </a:endParaRPr>
          </a:p>
          <a:p>
            <a:pPr algn="ctr"/>
            <a:endParaRPr lang="en-US"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61B22B5-AA91-8EE6-63EE-1895F7D5BA67}"/>
              </a:ext>
            </a:extLst>
          </p:cNvPr>
          <p:cNvSpPr txBox="1"/>
          <p:nvPr/>
        </p:nvSpPr>
        <p:spPr>
          <a:xfrm>
            <a:off x="360000" y="180000"/>
            <a:ext cx="9360000" cy="478080"/>
          </a:xfrm>
          <a:prstGeom prst="rect">
            <a:avLst/>
          </a:prstGeom>
          <a:noFill/>
          <a:ln w="0">
            <a:noFill/>
          </a:ln>
        </p:spPr>
        <p:txBody>
          <a:bodyPr lIns="0" tIns="0" rIns="0" bIns="0" anchor="ctr">
            <a:noAutofit/>
          </a:bodyPr>
          <a:lstStyle/>
          <a:p>
            <a:pPr>
              <a:lnSpc>
                <a:spcPct val="100000"/>
              </a:lnSpc>
            </a:pPr>
            <a:r>
              <a:rPr lang="en-GB" sz="2400" b="1" strike="noStrike" spc="-1" dirty="0">
                <a:latin typeface="Times New Roman"/>
                <a:ea typeface="DejaVu Sans"/>
              </a:rPr>
              <a:t>Research Findings &amp; Discussion</a:t>
            </a:r>
            <a:endParaRPr lang="en-GB" sz="2400" b="0" strike="noStrike" spc="-1" dirty="0">
              <a:latin typeface="Arial"/>
            </a:endParaRPr>
          </a:p>
        </p:txBody>
      </p:sp>
      <p:graphicFrame>
        <p:nvGraphicFramePr>
          <p:cNvPr id="7" name="Table 6">
            <a:extLst>
              <a:ext uri="{FF2B5EF4-FFF2-40B4-BE49-F238E27FC236}">
                <a16:creationId xmlns:a16="http://schemas.microsoft.com/office/drawing/2014/main" id="{6DA704FC-19EA-26A0-290A-951D5EA91142}"/>
              </a:ext>
            </a:extLst>
          </p:cNvPr>
          <p:cNvGraphicFramePr>
            <a:graphicFrameLocks noGrp="1"/>
          </p:cNvGraphicFramePr>
          <p:nvPr/>
        </p:nvGraphicFramePr>
        <p:xfrm>
          <a:off x="526806" y="1764889"/>
          <a:ext cx="3988634" cy="2631727"/>
        </p:xfrm>
        <a:graphic>
          <a:graphicData uri="http://schemas.openxmlformats.org/drawingml/2006/table">
            <a:tbl>
              <a:tblPr firstRow="1" firstCol="1" bandRow="1"/>
              <a:tblGrid>
                <a:gridCol w="983551">
                  <a:extLst>
                    <a:ext uri="{9D8B030D-6E8A-4147-A177-3AD203B41FA5}">
                      <a16:colId xmlns:a16="http://schemas.microsoft.com/office/drawing/2014/main" val="301636439"/>
                    </a:ext>
                  </a:extLst>
                </a:gridCol>
                <a:gridCol w="1010010">
                  <a:extLst>
                    <a:ext uri="{9D8B030D-6E8A-4147-A177-3AD203B41FA5}">
                      <a16:colId xmlns:a16="http://schemas.microsoft.com/office/drawing/2014/main" val="1391007388"/>
                    </a:ext>
                  </a:extLst>
                </a:gridCol>
                <a:gridCol w="1010010">
                  <a:extLst>
                    <a:ext uri="{9D8B030D-6E8A-4147-A177-3AD203B41FA5}">
                      <a16:colId xmlns:a16="http://schemas.microsoft.com/office/drawing/2014/main" val="751555423"/>
                    </a:ext>
                  </a:extLst>
                </a:gridCol>
                <a:gridCol w="985063">
                  <a:extLst>
                    <a:ext uri="{9D8B030D-6E8A-4147-A177-3AD203B41FA5}">
                      <a16:colId xmlns:a16="http://schemas.microsoft.com/office/drawing/2014/main" val="2388066195"/>
                    </a:ext>
                  </a:extLst>
                </a:gridCol>
              </a:tblGrid>
              <a:tr h="600278">
                <a:tc gridSpan="2">
                  <a:txBody>
                    <a:bodyPr/>
                    <a:lstStyle/>
                    <a:p>
                      <a:pPr marL="0" marR="0" algn="ctr">
                        <a:lnSpc>
                          <a:spcPct val="150000"/>
                        </a:lnSpc>
                        <a:spcAft>
                          <a:spcPts val="800"/>
                        </a:spcAft>
                      </a:pPr>
                      <a:r>
                        <a:rPr lang="en-US" sz="1400" b="1" kern="100">
                          <a:effectLst/>
                          <a:latin typeface="Times New Roman" panose="02020603050405020304" pitchFamily="18" charset="0"/>
                          <a:ea typeface="Calibri" panose="020F0502020204030204" pitchFamily="34" charset="0"/>
                          <a:cs typeface="Times New Roman" panose="02020603050405020304" pitchFamily="18" charset="0"/>
                        </a:rPr>
                        <a:t>Variables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marL="0" marR="0" algn="ctr">
                        <a:lnSpc>
                          <a:spcPct val="150000"/>
                        </a:lnSpc>
                        <a:spcAft>
                          <a:spcPts val="800"/>
                        </a:spcAft>
                      </a:pPr>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Frequency</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50000"/>
                        </a:lnSpc>
                        <a:spcAft>
                          <a:spcPts val="800"/>
                        </a:spcAft>
                      </a:pPr>
                      <a:r>
                        <a:rPr lang="en-US" sz="1400" b="1" kern="100">
                          <a:effectLst/>
                          <a:latin typeface="Times New Roman" panose="02020603050405020304" pitchFamily="18" charset="0"/>
                          <a:ea typeface="Calibri" panose="020F0502020204030204" pitchFamily="34" charset="0"/>
                          <a:cs typeface="Times New Roman" panose="02020603050405020304" pitchFamily="18" charset="0"/>
                        </a:rPr>
                        <a:t>Percentage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7138539"/>
                  </a:ext>
                </a:extLst>
              </a:tr>
              <a:tr h="283184">
                <a:tc rowSpan="3">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Religion</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Muslim</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a:lnSpc>
                          <a:spcPct val="150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219</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87.6</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174210254"/>
                  </a:ext>
                </a:extLst>
              </a:tr>
              <a:tr h="283184">
                <a:tc vMerge="1">
                  <a:txBody>
                    <a:bodyPr/>
                    <a:lstStyle/>
                    <a:p>
                      <a:endParaRPr lang="en-US"/>
                    </a:p>
                  </a:txBody>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Hindu</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29</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11.6</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2219673977"/>
                  </a:ext>
                </a:extLst>
              </a:tr>
              <a:tr h="283184">
                <a:tc vMerge="1">
                  <a:txBody>
                    <a:bodyPr/>
                    <a:lstStyle/>
                    <a:p>
                      <a:endParaRPr lang="en-US"/>
                    </a:p>
                  </a:txBody>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Others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0.8</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5749551"/>
                  </a:ext>
                </a:extLst>
              </a:tr>
              <a:tr h="295403">
                <a:tc rowSpan="2">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Gender</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Male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a:lnSpc>
                          <a:spcPct val="150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194</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77.6</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682233670"/>
                  </a:ext>
                </a:extLst>
              </a:tr>
              <a:tr h="283184">
                <a:tc vMerge="1">
                  <a:txBody>
                    <a:bodyPr/>
                    <a:lstStyle/>
                    <a:p>
                      <a:endParaRPr lang="en-US"/>
                    </a:p>
                  </a:txBody>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Female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56</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22.4</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5084115"/>
                  </a:ext>
                </a:extLst>
              </a:tr>
              <a:tr h="283184">
                <a:tc rowSpan="2">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Residence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50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Rural</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151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60.4</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14395157"/>
                  </a:ext>
                </a:extLst>
              </a:tr>
              <a:tr h="306976">
                <a:tc vMerge="1">
                  <a:txBody>
                    <a:bodyPr/>
                    <a:lstStyle/>
                    <a:p>
                      <a:endParaRPr lang="en-US"/>
                    </a:p>
                  </a:txBody>
                  <a:tcPr/>
                </a:tc>
                <a:tc>
                  <a:txBody>
                    <a:bodyPr/>
                    <a:lstStyle/>
                    <a:p>
                      <a:pPr marL="0" marR="0" algn="ctr">
                        <a:lnSpc>
                          <a:spcPct val="150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Urban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lnSpc>
                          <a:spcPct val="150000"/>
                        </a:lnSpc>
                        <a:spcAft>
                          <a:spcPts val="800"/>
                        </a:spcAf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99</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lnSpc>
                          <a:spcPct val="150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39.6</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5370124"/>
                  </a:ext>
                </a:extLst>
              </a:tr>
            </a:tbl>
          </a:graphicData>
        </a:graphic>
      </p:graphicFrame>
      <p:sp>
        <p:nvSpPr>
          <p:cNvPr id="10" name="TextBox 9">
            <a:extLst>
              <a:ext uri="{FF2B5EF4-FFF2-40B4-BE49-F238E27FC236}">
                <a16:creationId xmlns:a16="http://schemas.microsoft.com/office/drawing/2014/main" id="{2707CCA0-FF8E-46D9-F4BA-FEA1234D8D4F}"/>
              </a:ext>
            </a:extLst>
          </p:cNvPr>
          <p:cNvSpPr txBox="1"/>
          <p:nvPr/>
        </p:nvSpPr>
        <p:spPr>
          <a:xfrm>
            <a:off x="5089965" y="1144903"/>
            <a:ext cx="6094428" cy="311496"/>
          </a:xfrm>
          <a:prstGeom prst="rect">
            <a:avLst/>
          </a:prstGeom>
          <a:noFill/>
        </p:spPr>
        <p:txBody>
          <a:bodyPr wrap="square">
            <a:spAutoFit/>
          </a:bodyPr>
          <a:lstStyle/>
          <a:p>
            <a:pPr marL="0" marR="0" algn="ctr">
              <a:lnSpc>
                <a:spcPct val="107000"/>
              </a:lnSpc>
              <a:spcAft>
                <a:spcPts val="800"/>
              </a:spcAft>
            </a:pPr>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Table 2: </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Frequency distribution of  academic level and faculty of the </a:t>
            </a:r>
            <a:r>
              <a:rPr lang="en-US" sz="1400" kern="100" dirty="0">
                <a:latin typeface="Times New Roman" panose="02020603050405020304" pitchFamily="18" charset="0"/>
                <a:ea typeface="Calibri" panose="020F0502020204030204" pitchFamily="34" charset="0"/>
                <a:cs typeface="Times New Roman" panose="02020603050405020304" pitchFamily="18" charset="0"/>
              </a:rPr>
              <a:t>respondents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9D6E89A-180E-FF9B-4F8D-D531603477FA}"/>
              </a:ext>
            </a:extLst>
          </p:cNvPr>
          <p:cNvSpPr/>
          <p:nvPr/>
        </p:nvSpPr>
        <p:spPr>
          <a:xfrm>
            <a:off x="-3764" y="6005570"/>
            <a:ext cx="12195763" cy="578192"/>
          </a:xfrm>
          <a:prstGeom prst="rect">
            <a:avLst/>
          </a:prstGeom>
          <a:solidFill>
            <a:srgbClr val="FFFFFF"/>
          </a:solidFill>
          <a:ln w="18000">
            <a:noFill/>
          </a:ln>
        </p:spPr>
        <p:style>
          <a:lnRef idx="0">
            <a:scrgbClr r="0" g="0" b="0"/>
          </a:lnRef>
          <a:fillRef idx="0">
            <a:scrgbClr r="0" g="0" b="0"/>
          </a:fillRef>
          <a:effectRef idx="0">
            <a:scrgbClr r="0" g="0" b="0"/>
          </a:effectRef>
          <a:fontRef idx="minor"/>
        </p:style>
      </p:sp>
      <p:graphicFrame>
        <p:nvGraphicFramePr>
          <p:cNvPr id="12" name="Object 11">
            <a:extLst>
              <a:ext uri="{FF2B5EF4-FFF2-40B4-BE49-F238E27FC236}">
                <a16:creationId xmlns:a16="http://schemas.microsoft.com/office/drawing/2014/main" id="{A8E990E7-AC74-87D3-0E3B-8410EDD7ECDB}"/>
              </a:ext>
            </a:extLst>
          </p:cNvPr>
          <p:cNvGraphicFramePr>
            <a:graphicFrameLocks noChangeAspect="1"/>
          </p:cNvGraphicFramePr>
          <p:nvPr/>
        </p:nvGraphicFramePr>
        <p:xfrm>
          <a:off x="5040000" y="1837698"/>
          <a:ext cx="5940425" cy="4029075"/>
        </p:xfrm>
        <a:graphic>
          <a:graphicData uri="http://schemas.openxmlformats.org/presentationml/2006/ole">
            <mc:AlternateContent xmlns:mc="http://schemas.openxmlformats.org/markup-compatibility/2006">
              <mc:Choice xmlns:v="urn:schemas-microsoft-com:vml" Requires="v">
                <p:oleObj name="Document" r:id="rId2" imgW="5940848" imgH="4028768" progId="Word.Document.12">
                  <p:embed/>
                </p:oleObj>
              </mc:Choice>
              <mc:Fallback>
                <p:oleObj name="Document" r:id="rId2" imgW="5940848" imgH="4028768" progId="Word.Document.12">
                  <p:embed/>
                  <p:pic>
                    <p:nvPicPr>
                      <p:cNvPr id="12" name="Object 11">
                        <a:extLst>
                          <a:ext uri="{FF2B5EF4-FFF2-40B4-BE49-F238E27FC236}">
                            <a16:creationId xmlns:a16="http://schemas.microsoft.com/office/drawing/2014/main" id="{A8E990E7-AC74-87D3-0E3B-8410EDD7ECDB}"/>
                          </a:ext>
                        </a:extLst>
                      </p:cNvPr>
                      <p:cNvPicPr/>
                      <p:nvPr/>
                    </p:nvPicPr>
                    <p:blipFill>
                      <a:blip r:embed="rId3"/>
                      <a:stretch>
                        <a:fillRect/>
                      </a:stretch>
                    </p:blipFill>
                    <p:spPr>
                      <a:xfrm>
                        <a:off x="5040000" y="1837698"/>
                        <a:ext cx="5940425" cy="4029075"/>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83B85883-23DB-65BB-5E7B-44EA6EAC5442}"/>
              </a:ext>
            </a:extLst>
          </p:cNvPr>
          <p:cNvSpPr txBox="1"/>
          <p:nvPr/>
        </p:nvSpPr>
        <p:spPr>
          <a:xfrm>
            <a:off x="11755417" y="6226175"/>
            <a:ext cx="46863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9</a:t>
            </a:r>
          </a:p>
        </p:txBody>
      </p:sp>
    </p:spTree>
    <p:extLst>
      <p:ext uri="{BB962C8B-B14F-4D97-AF65-F5344CB8AC3E}">
        <p14:creationId xmlns:p14="http://schemas.microsoft.com/office/powerpoint/2010/main" val="1957254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73090-2209-B997-DB9B-CA66C8C032F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AEDDFFC-6539-ECE7-36FC-F63466296FD2}"/>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085F56E-F6B1-4478-D139-DE863D295693}"/>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A5E7E96-5708-181F-B407-4641F608BC2F}"/>
              </a:ext>
            </a:extLst>
          </p:cNvPr>
          <p:cNvSpPr txBox="1"/>
          <p:nvPr/>
        </p:nvSpPr>
        <p:spPr>
          <a:xfrm>
            <a:off x="526806" y="1144903"/>
            <a:ext cx="4214876" cy="553998"/>
          </a:xfrm>
          <a:prstGeom prst="rect">
            <a:avLst/>
          </a:prstGeom>
          <a:noFill/>
        </p:spPr>
        <p:txBody>
          <a:bodyPr wrap="square" rtlCol="0">
            <a:spAutoFit/>
          </a:bodyPr>
          <a:lstStyle/>
          <a:p>
            <a:pPr algn="just">
              <a:lnSpc>
                <a:spcPct val="100000"/>
              </a:lnSpc>
            </a:pPr>
            <a:r>
              <a:rPr lang="en-US" sz="1400" b="1" dirty="0">
                <a:latin typeface="Times New Roman" panose="02020603050405020304" pitchFamily="18" charset="0"/>
                <a:cs typeface="Times New Roman" panose="02020603050405020304" pitchFamily="18" charset="0"/>
              </a:rPr>
              <a:t>Table 3: </a:t>
            </a:r>
            <a:r>
              <a:rPr lang="en-GB" sz="1400" b="0" strike="noStrike" spc="-1" dirty="0">
                <a:solidFill>
                  <a:srgbClr val="000000"/>
                </a:solidFill>
                <a:latin typeface="Times New Roman"/>
                <a:ea typeface="DejaVu Sans"/>
              </a:rPr>
              <a:t>Banking information of the respondents</a:t>
            </a:r>
            <a:endParaRPr lang="en-GB" sz="1400" b="0" strike="noStrike" spc="-1" dirty="0">
              <a:latin typeface="Arial"/>
            </a:endParaRPr>
          </a:p>
          <a:p>
            <a:pPr algn="ctr"/>
            <a:endParaRPr lang="en-US"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8D83B3A-7A68-4967-ABDC-74FAA1698705}"/>
              </a:ext>
            </a:extLst>
          </p:cNvPr>
          <p:cNvSpPr txBox="1"/>
          <p:nvPr/>
        </p:nvSpPr>
        <p:spPr>
          <a:xfrm>
            <a:off x="360000" y="180000"/>
            <a:ext cx="9360000" cy="478080"/>
          </a:xfrm>
          <a:prstGeom prst="rect">
            <a:avLst/>
          </a:prstGeom>
          <a:noFill/>
          <a:ln w="0">
            <a:noFill/>
          </a:ln>
        </p:spPr>
        <p:txBody>
          <a:bodyPr lIns="0" tIns="0" rIns="0" bIns="0" anchor="ctr">
            <a:noAutofit/>
          </a:bodyPr>
          <a:lstStyle/>
          <a:p>
            <a:pPr>
              <a:lnSpc>
                <a:spcPct val="100000"/>
              </a:lnSpc>
            </a:pPr>
            <a:r>
              <a:rPr lang="en-GB" sz="2400" b="1" strike="noStrike" spc="-1" dirty="0">
                <a:latin typeface="Times New Roman"/>
                <a:ea typeface="DejaVu Sans"/>
              </a:rPr>
              <a:t>Research Findings &amp; Discussion</a:t>
            </a:r>
            <a:endParaRPr lang="en-GB" sz="2400" b="0" strike="noStrike" spc="-1" dirty="0">
              <a:latin typeface="Arial"/>
            </a:endParaRPr>
          </a:p>
        </p:txBody>
      </p:sp>
      <p:sp>
        <p:nvSpPr>
          <p:cNvPr id="10" name="TextBox 9">
            <a:extLst>
              <a:ext uri="{FF2B5EF4-FFF2-40B4-BE49-F238E27FC236}">
                <a16:creationId xmlns:a16="http://schemas.microsoft.com/office/drawing/2014/main" id="{C8189447-1B6F-4DDF-1BB3-4136067DCBDF}"/>
              </a:ext>
            </a:extLst>
          </p:cNvPr>
          <p:cNvSpPr txBox="1"/>
          <p:nvPr/>
        </p:nvSpPr>
        <p:spPr>
          <a:xfrm>
            <a:off x="5816336" y="1938999"/>
            <a:ext cx="2424227" cy="280270"/>
          </a:xfrm>
          <a:prstGeom prst="rect">
            <a:avLst/>
          </a:prstGeom>
          <a:noFill/>
        </p:spPr>
        <p:txBody>
          <a:bodyPr wrap="square">
            <a:spAutoFit/>
          </a:bodyPr>
          <a:lstStyle/>
          <a:p>
            <a:pPr marL="0" marR="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Continue…Table 3</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695B9C72-B9E8-ECD5-EC54-6FABEC76D0FB}"/>
              </a:ext>
            </a:extLst>
          </p:cNvPr>
          <p:cNvSpPr/>
          <p:nvPr/>
        </p:nvSpPr>
        <p:spPr>
          <a:xfrm>
            <a:off x="-3764" y="6005570"/>
            <a:ext cx="12195763" cy="578192"/>
          </a:xfrm>
          <a:prstGeom prst="rect">
            <a:avLst/>
          </a:prstGeom>
          <a:solidFill>
            <a:srgbClr val="FFFFFF"/>
          </a:solidFill>
          <a:ln w="18000">
            <a:noFill/>
          </a:ln>
        </p:spPr>
        <p:style>
          <a:lnRef idx="0">
            <a:scrgbClr r="0" g="0" b="0"/>
          </a:lnRef>
          <a:fillRef idx="0">
            <a:scrgbClr r="0" g="0" b="0"/>
          </a:fillRef>
          <a:effectRef idx="0">
            <a:scrgbClr r="0" g="0" b="0"/>
          </a:effectRef>
          <a:fontRef idx="minor"/>
        </p:style>
      </p:sp>
      <p:graphicFrame>
        <p:nvGraphicFramePr>
          <p:cNvPr id="2" name="Object 1">
            <a:extLst>
              <a:ext uri="{FF2B5EF4-FFF2-40B4-BE49-F238E27FC236}">
                <a16:creationId xmlns:a16="http://schemas.microsoft.com/office/drawing/2014/main" id="{047B0786-104E-CBB7-8CD8-449133E1A8A1}"/>
              </a:ext>
            </a:extLst>
          </p:cNvPr>
          <p:cNvGraphicFramePr>
            <a:graphicFrameLocks noChangeAspect="1"/>
          </p:cNvGraphicFramePr>
          <p:nvPr>
            <p:extLst>
              <p:ext uri="{D42A27DB-BD31-4B8C-83A1-F6EECF244321}">
                <p14:modId xmlns:p14="http://schemas.microsoft.com/office/powerpoint/2010/main" val="1372955224"/>
              </p:ext>
            </p:extLst>
          </p:nvPr>
        </p:nvGraphicFramePr>
        <p:xfrm>
          <a:off x="-428117" y="1527183"/>
          <a:ext cx="5940425" cy="5094287"/>
        </p:xfrm>
        <a:graphic>
          <a:graphicData uri="http://schemas.openxmlformats.org/presentationml/2006/ole">
            <mc:AlternateContent xmlns:mc="http://schemas.openxmlformats.org/markup-compatibility/2006">
              <mc:Choice xmlns:v="urn:schemas-microsoft-com:vml" Requires="v">
                <p:oleObj name="Document" r:id="rId2" imgW="5940848" imgH="5094453" progId="Word.Document.12">
                  <p:embed/>
                </p:oleObj>
              </mc:Choice>
              <mc:Fallback>
                <p:oleObj name="Document" r:id="rId2" imgW="5940848" imgH="5094453" progId="Word.Document.12">
                  <p:embed/>
                  <p:pic>
                    <p:nvPicPr>
                      <p:cNvPr id="2" name="Object 1">
                        <a:extLst>
                          <a:ext uri="{FF2B5EF4-FFF2-40B4-BE49-F238E27FC236}">
                            <a16:creationId xmlns:a16="http://schemas.microsoft.com/office/drawing/2014/main" id="{047B0786-104E-CBB7-8CD8-449133E1A8A1}"/>
                          </a:ext>
                        </a:extLst>
                      </p:cNvPr>
                      <p:cNvPicPr/>
                      <p:nvPr/>
                    </p:nvPicPr>
                    <p:blipFill>
                      <a:blip r:embed="rId3"/>
                      <a:stretch>
                        <a:fillRect/>
                      </a:stretch>
                    </p:blipFill>
                    <p:spPr>
                      <a:xfrm>
                        <a:off x="-428117" y="1527183"/>
                        <a:ext cx="5940425" cy="5094287"/>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416B9F4F-8665-165D-71DB-60A4F5799E34}"/>
              </a:ext>
            </a:extLst>
          </p:cNvPr>
          <p:cNvGraphicFramePr>
            <a:graphicFrameLocks noChangeAspect="1"/>
          </p:cNvGraphicFramePr>
          <p:nvPr/>
        </p:nvGraphicFramePr>
        <p:xfrm>
          <a:off x="4741682" y="2459366"/>
          <a:ext cx="5940425" cy="3244850"/>
        </p:xfrm>
        <a:graphic>
          <a:graphicData uri="http://schemas.openxmlformats.org/presentationml/2006/ole">
            <mc:AlternateContent xmlns:mc="http://schemas.openxmlformats.org/markup-compatibility/2006">
              <mc:Choice xmlns:v="urn:schemas-microsoft-com:vml" Requires="v">
                <p:oleObj name="Document" r:id="rId4" imgW="5940848" imgH="3249332" progId="Word.Document.12">
                  <p:embed/>
                </p:oleObj>
              </mc:Choice>
              <mc:Fallback>
                <p:oleObj name="Document" r:id="rId4" imgW="5940848" imgH="3249332" progId="Word.Document.12">
                  <p:embed/>
                  <p:pic>
                    <p:nvPicPr>
                      <p:cNvPr id="3" name="Object 2">
                        <a:extLst>
                          <a:ext uri="{FF2B5EF4-FFF2-40B4-BE49-F238E27FC236}">
                            <a16:creationId xmlns:a16="http://schemas.microsoft.com/office/drawing/2014/main" id="{416B9F4F-8665-165D-71DB-60A4F5799E34}"/>
                          </a:ext>
                        </a:extLst>
                      </p:cNvPr>
                      <p:cNvPicPr/>
                      <p:nvPr/>
                    </p:nvPicPr>
                    <p:blipFill>
                      <a:blip r:embed="rId5"/>
                      <a:stretch>
                        <a:fillRect/>
                      </a:stretch>
                    </p:blipFill>
                    <p:spPr>
                      <a:xfrm>
                        <a:off x="4741682" y="2459366"/>
                        <a:ext cx="5940425" cy="3244850"/>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836CE437-BC37-C77E-5B47-3EADF8D9D660}"/>
              </a:ext>
            </a:extLst>
          </p:cNvPr>
          <p:cNvSpPr txBox="1"/>
          <p:nvPr/>
        </p:nvSpPr>
        <p:spPr>
          <a:xfrm>
            <a:off x="11631953" y="6159805"/>
            <a:ext cx="56004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10</a:t>
            </a:r>
          </a:p>
        </p:txBody>
      </p:sp>
    </p:spTree>
    <p:extLst>
      <p:ext uri="{BB962C8B-B14F-4D97-AF65-F5344CB8AC3E}">
        <p14:creationId xmlns:p14="http://schemas.microsoft.com/office/powerpoint/2010/main" val="2277406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BFDDC-4301-1A58-B2FF-A3923357625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23B94215-4D61-DC94-29A7-26E6AD1D67AB}"/>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79107E1-D5A7-6734-1CFB-CCDE62FEE700}"/>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5185C53-ECEA-DBE8-39E3-B9BA19BAA80F}"/>
              </a:ext>
            </a:extLst>
          </p:cNvPr>
          <p:cNvSpPr txBox="1"/>
          <p:nvPr/>
        </p:nvSpPr>
        <p:spPr>
          <a:xfrm>
            <a:off x="360000" y="180000"/>
            <a:ext cx="9360000" cy="478080"/>
          </a:xfrm>
          <a:prstGeom prst="rect">
            <a:avLst/>
          </a:prstGeom>
          <a:noFill/>
          <a:ln w="0">
            <a:noFill/>
          </a:ln>
        </p:spPr>
        <p:txBody>
          <a:bodyPr lIns="0" tIns="0" rIns="0" bIns="0" anchor="ctr">
            <a:noAutofit/>
          </a:bodyPr>
          <a:lstStyle/>
          <a:p>
            <a:pPr>
              <a:lnSpc>
                <a:spcPct val="100000"/>
              </a:lnSpc>
            </a:pPr>
            <a:r>
              <a:rPr lang="en-GB" sz="2400" b="1" strike="noStrike" spc="-1" dirty="0">
                <a:latin typeface="Times New Roman"/>
                <a:ea typeface="DejaVu Sans"/>
              </a:rPr>
              <a:t>Research Findings &amp; Discussion</a:t>
            </a:r>
            <a:endParaRPr lang="en-GB" sz="2400" b="0" strike="noStrike" spc="-1" dirty="0">
              <a:latin typeface="Arial"/>
            </a:endParaRPr>
          </a:p>
        </p:txBody>
      </p:sp>
      <p:sp>
        <p:nvSpPr>
          <p:cNvPr id="11" name="Rectangle 10">
            <a:extLst>
              <a:ext uri="{FF2B5EF4-FFF2-40B4-BE49-F238E27FC236}">
                <a16:creationId xmlns:a16="http://schemas.microsoft.com/office/drawing/2014/main" id="{498B528C-A667-1427-D93B-3BD70BF02E86}"/>
              </a:ext>
            </a:extLst>
          </p:cNvPr>
          <p:cNvSpPr/>
          <p:nvPr/>
        </p:nvSpPr>
        <p:spPr>
          <a:xfrm>
            <a:off x="-3764" y="6005570"/>
            <a:ext cx="12195763" cy="578192"/>
          </a:xfrm>
          <a:prstGeom prst="rect">
            <a:avLst/>
          </a:prstGeom>
          <a:solidFill>
            <a:srgbClr val="FFFFFF"/>
          </a:solidFill>
          <a:ln w="18000">
            <a:noFill/>
          </a:ln>
        </p:spPr>
        <p:style>
          <a:lnRef idx="0">
            <a:scrgbClr r="0" g="0" b="0"/>
          </a:lnRef>
          <a:fillRef idx="0">
            <a:scrgbClr r="0" g="0" b="0"/>
          </a:fillRef>
          <a:effectRef idx="0">
            <a:scrgbClr r="0" g="0" b="0"/>
          </a:effectRef>
          <a:fontRef idx="minor"/>
        </p:style>
      </p:sp>
      <p:graphicFrame>
        <p:nvGraphicFramePr>
          <p:cNvPr id="13" name="Object 12">
            <a:extLst>
              <a:ext uri="{FF2B5EF4-FFF2-40B4-BE49-F238E27FC236}">
                <a16:creationId xmlns:a16="http://schemas.microsoft.com/office/drawing/2014/main" id="{F8BCB23E-6896-EAB2-9806-84F6D224ADDC}"/>
              </a:ext>
            </a:extLst>
          </p:cNvPr>
          <p:cNvGraphicFramePr>
            <a:graphicFrameLocks noChangeAspect="1"/>
          </p:cNvGraphicFramePr>
          <p:nvPr>
            <p:extLst>
              <p:ext uri="{D42A27DB-BD31-4B8C-83A1-F6EECF244321}">
                <p14:modId xmlns:p14="http://schemas.microsoft.com/office/powerpoint/2010/main" val="2434247855"/>
              </p:ext>
            </p:extLst>
          </p:nvPr>
        </p:nvGraphicFramePr>
        <p:xfrm>
          <a:off x="2786423" y="1610700"/>
          <a:ext cx="5940425" cy="5067300"/>
        </p:xfrm>
        <a:graphic>
          <a:graphicData uri="http://schemas.openxmlformats.org/presentationml/2006/ole">
            <mc:AlternateContent xmlns:mc="http://schemas.openxmlformats.org/markup-compatibility/2006">
              <mc:Choice xmlns:v="urn:schemas-microsoft-com:vml" Requires="v">
                <p:oleObj name="Document" r:id="rId2" imgW="5940848" imgH="5074625" progId="Word.Document.12">
                  <p:embed/>
                </p:oleObj>
              </mc:Choice>
              <mc:Fallback>
                <p:oleObj name="Document" r:id="rId2" imgW="5940848" imgH="5074625" progId="Word.Document.12">
                  <p:embed/>
                  <p:pic>
                    <p:nvPicPr>
                      <p:cNvPr id="0" name=""/>
                      <p:cNvPicPr/>
                      <p:nvPr/>
                    </p:nvPicPr>
                    <p:blipFill>
                      <a:blip r:embed="rId3"/>
                      <a:stretch>
                        <a:fillRect/>
                      </a:stretch>
                    </p:blipFill>
                    <p:spPr>
                      <a:xfrm>
                        <a:off x="2786423" y="1610700"/>
                        <a:ext cx="5940425" cy="5067300"/>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56DCE946-EB7D-782C-7ED3-14E4FD14229B}"/>
              </a:ext>
            </a:extLst>
          </p:cNvPr>
          <p:cNvSpPr txBox="1"/>
          <p:nvPr/>
        </p:nvSpPr>
        <p:spPr>
          <a:xfrm>
            <a:off x="2786423" y="1028412"/>
            <a:ext cx="5940424" cy="769441"/>
          </a:xfrm>
          <a:prstGeom prst="rect">
            <a:avLst/>
          </a:prstGeom>
          <a:noFill/>
        </p:spPr>
        <p:txBody>
          <a:bodyPr wrap="square" rtlCol="0">
            <a:spAutoFit/>
          </a:bodyPr>
          <a:lstStyle/>
          <a:p>
            <a:pPr algn="just">
              <a:lnSpc>
                <a:spcPct val="100000"/>
              </a:lnSpc>
            </a:pPr>
            <a:r>
              <a:rPr lang="en-US" sz="1400" b="1" dirty="0">
                <a:latin typeface="Times New Roman" panose="02020603050405020304" pitchFamily="18" charset="0"/>
                <a:cs typeface="Times New Roman" panose="02020603050405020304" pitchFamily="18" charset="0"/>
              </a:rPr>
              <a:t>Table 4: </a:t>
            </a:r>
            <a:r>
              <a:rPr lang="en-US" sz="1400" dirty="0">
                <a:latin typeface="Times New Roman" panose="02020603050405020304" pitchFamily="18" charset="0"/>
                <a:cs typeface="Times New Roman" panose="02020603050405020304" pitchFamily="18" charset="0"/>
              </a:rPr>
              <a:t>Association between academic level &amp; banking variables and satisfaction level with overall mobile banking  of the respondents</a:t>
            </a:r>
            <a:endParaRPr lang="en-GB" sz="1400" b="0" strike="noStrike" spc="-1" dirty="0">
              <a:latin typeface="Arial"/>
            </a:endParaRPr>
          </a:p>
          <a:p>
            <a:pPr algn="ctr"/>
            <a:endParaRPr lang="en-US" sz="16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B2809AF5-6AE2-EC76-8911-A62788C239A5}"/>
              </a:ext>
            </a:extLst>
          </p:cNvPr>
          <p:cNvSpPr txBox="1"/>
          <p:nvPr/>
        </p:nvSpPr>
        <p:spPr>
          <a:xfrm>
            <a:off x="11631953" y="6159805"/>
            <a:ext cx="56004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11</a:t>
            </a:r>
          </a:p>
        </p:txBody>
      </p:sp>
    </p:spTree>
    <p:extLst>
      <p:ext uri="{BB962C8B-B14F-4D97-AF65-F5344CB8AC3E}">
        <p14:creationId xmlns:p14="http://schemas.microsoft.com/office/powerpoint/2010/main" val="2908627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4CE6A-54DC-7717-7343-6F7F4248C0D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9A31C4F-39F1-050A-73B2-6C444113AE3E}"/>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C011536-7FEE-665F-7516-86B151E4ED74}"/>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ED3A07E-6B18-3749-F090-7FC9633DC9CE}"/>
              </a:ext>
            </a:extLst>
          </p:cNvPr>
          <p:cNvSpPr txBox="1"/>
          <p:nvPr/>
        </p:nvSpPr>
        <p:spPr>
          <a:xfrm>
            <a:off x="360000" y="180000"/>
            <a:ext cx="9360000" cy="478080"/>
          </a:xfrm>
          <a:prstGeom prst="rect">
            <a:avLst/>
          </a:prstGeom>
          <a:noFill/>
          <a:ln w="0">
            <a:noFill/>
          </a:ln>
        </p:spPr>
        <p:txBody>
          <a:bodyPr lIns="0" tIns="0" rIns="0" bIns="0" anchor="ctr">
            <a:noAutofit/>
          </a:bodyPr>
          <a:lstStyle/>
          <a:p>
            <a:pPr>
              <a:lnSpc>
                <a:spcPct val="100000"/>
              </a:lnSpc>
            </a:pPr>
            <a:r>
              <a:rPr lang="en-GB" sz="2400" b="1" strike="noStrike" spc="-1" dirty="0">
                <a:latin typeface="Times New Roman"/>
                <a:ea typeface="DejaVu Sans"/>
              </a:rPr>
              <a:t>Research Findings &amp; Discussion</a:t>
            </a:r>
            <a:endParaRPr lang="en-GB" sz="2400" b="0" strike="noStrike" spc="-1" dirty="0">
              <a:latin typeface="Arial"/>
            </a:endParaRPr>
          </a:p>
        </p:txBody>
      </p:sp>
      <p:sp>
        <p:nvSpPr>
          <p:cNvPr id="11" name="Rectangle 10">
            <a:extLst>
              <a:ext uri="{FF2B5EF4-FFF2-40B4-BE49-F238E27FC236}">
                <a16:creationId xmlns:a16="http://schemas.microsoft.com/office/drawing/2014/main" id="{EB93C183-D5F5-2323-5234-49158CDEC90F}"/>
              </a:ext>
            </a:extLst>
          </p:cNvPr>
          <p:cNvSpPr/>
          <p:nvPr/>
        </p:nvSpPr>
        <p:spPr>
          <a:xfrm>
            <a:off x="-3764" y="6005570"/>
            <a:ext cx="12195763" cy="578192"/>
          </a:xfrm>
          <a:prstGeom prst="rect">
            <a:avLst/>
          </a:prstGeom>
          <a:solidFill>
            <a:srgbClr val="FFFFFF"/>
          </a:solidFill>
          <a:ln w="18000">
            <a:noFill/>
          </a:ln>
        </p:spPr>
        <p:style>
          <a:lnRef idx="0">
            <a:scrgbClr r="0" g="0" b="0"/>
          </a:lnRef>
          <a:fillRef idx="0">
            <a:scrgbClr r="0" g="0" b="0"/>
          </a:fillRef>
          <a:effectRef idx="0">
            <a:scrgbClr r="0" g="0" b="0"/>
          </a:effectRef>
          <a:fontRef idx="minor"/>
        </p:style>
      </p:sp>
      <p:sp>
        <p:nvSpPr>
          <p:cNvPr id="14" name="TextBox 13">
            <a:extLst>
              <a:ext uri="{FF2B5EF4-FFF2-40B4-BE49-F238E27FC236}">
                <a16:creationId xmlns:a16="http://schemas.microsoft.com/office/drawing/2014/main" id="{840A1DD3-4233-26FF-2A34-2C05FE2722D1}"/>
              </a:ext>
            </a:extLst>
          </p:cNvPr>
          <p:cNvSpPr txBox="1"/>
          <p:nvPr/>
        </p:nvSpPr>
        <p:spPr>
          <a:xfrm>
            <a:off x="3459079" y="966673"/>
            <a:ext cx="5392690" cy="523220"/>
          </a:xfrm>
          <a:prstGeom prst="rect">
            <a:avLst/>
          </a:prstGeom>
          <a:noFill/>
        </p:spPr>
        <p:txBody>
          <a:bodyPr wrap="square" rtlCol="0">
            <a:spAutoFit/>
          </a:bodyPr>
          <a:lstStyle/>
          <a:p>
            <a:pPr algn="just">
              <a:lnSpc>
                <a:spcPct val="100000"/>
              </a:lnSpc>
            </a:pPr>
            <a:r>
              <a:rPr lang="en-US" sz="1400" b="1" dirty="0">
                <a:latin typeface="Times New Roman" panose="02020603050405020304" pitchFamily="18" charset="0"/>
                <a:cs typeface="Times New Roman" panose="02020603050405020304" pitchFamily="18" charset="0"/>
              </a:rPr>
              <a:t>Table 4: </a:t>
            </a:r>
            <a:r>
              <a:rPr lang="en-US" sz="1400" dirty="0">
                <a:effectLst/>
                <a:latin typeface="Times New Roman" panose="02020603050405020304" pitchFamily="18" charset="0"/>
                <a:ea typeface="Calibri" panose="020F0502020204030204" pitchFamily="34" charset="0"/>
              </a:rPr>
              <a:t>The effect of academic level and different banking activities on satisfaction level  with mobile banking</a:t>
            </a:r>
            <a:endParaRPr lang="en-US" sz="1400" dirty="0">
              <a:latin typeface="Times New Roman" panose="02020603050405020304" pitchFamily="18" charset="0"/>
              <a:cs typeface="Times New Roman" panose="02020603050405020304" pitchFamily="18" charset="0"/>
            </a:endParaRPr>
          </a:p>
        </p:txBody>
      </p:sp>
      <p:graphicFrame>
        <p:nvGraphicFramePr>
          <p:cNvPr id="3" name="Object 2">
            <a:extLst>
              <a:ext uri="{FF2B5EF4-FFF2-40B4-BE49-F238E27FC236}">
                <a16:creationId xmlns:a16="http://schemas.microsoft.com/office/drawing/2014/main" id="{A9BF8BCF-2ED5-363A-B0BC-3015917AE7D2}"/>
              </a:ext>
            </a:extLst>
          </p:cNvPr>
          <p:cNvGraphicFramePr>
            <a:graphicFrameLocks noChangeAspect="1"/>
          </p:cNvGraphicFramePr>
          <p:nvPr>
            <p:extLst>
              <p:ext uri="{D42A27DB-BD31-4B8C-83A1-F6EECF244321}">
                <p14:modId xmlns:p14="http://schemas.microsoft.com/office/powerpoint/2010/main" val="3162617850"/>
              </p:ext>
            </p:extLst>
          </p:nvPr>
        </p:nvGraphicFramePr>
        <p:xfrm>
          <a:off x="3459079" y="1541726"/>
          <a:ext cx="5482768" cy="5248336"/>
        </p:xfrm>
        <a:graphic>
          <a:graphicData uri="http://schemas.openxmlformats.org/presentationml/2006/ole">
            <mc:AlternateContent xmlns:mc="http://schemas.openxmlformats.org/markup-compatibility/2006">
              <mc:Choice xmlns:v="urn:schemas-microsoft-com:vml" Requires="v">
                <p:oleObj name="Document" r:id="rId2" imgW="5940848" imgH="5694713" progId="Word.Document.12">
                  <p:embed/>
                </p:oleObj>
              </mc:Choice>
              <mc:Fallback>
                <p:oleObj name="Document" r:id="rId2" imgW="5940848" imgH="5694713" progId="Word.Document.12">
                  <p:embed/>
                  <p:pic>
                    <p:nvPicPr>
                      <p:cNvPr id="0" name=""/>
                      <p:cNvPicPr/>
                      <p:nvPr/>
                    </p:nvPicPr>
                    <p:blipFill>
                      <a:blip r:embed="rId3"/>
                      <a:stretch>
                        <a:fillRect/>
                      </a:stretch>
                    </p:blipFill>
                    <p:spPr>
                      <a:xfrm>
                        <a:off x="3459079" y="1541726"/>
                        <a:ext cx="5482768" cy="5248336"/>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73CCF2F7-7745-428F-1E99-7BF1355A91C3}"/>
              </a:ext>
            </a:extLst>
          </p:cNvPr>
          <p:cNvSpPr txBox="1"/>
          <p:nvPr/>
        </p:nvSpPr>
        <p:spPr>
          <a:xfrm>
            <a:off x="11631953" y="6159805"/>
            <a:ext cx="56004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12</a:t>
            </a:r>
          </a:p>
        </p:txBody>
      </p:sp>
    </p:spTree>
    <p:extLst>
      <p:ext uri="{BB962C8B-B14F-4D97-AF65-F5344CB8AC3E}">
        <p14:creationId xmlns:p14="http://schemas.microsoft.com/office/powerpoint/2010/main" val="1764355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3A077-D4B2-3284-9FAA-96483FBE936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B58DF45-DEB0-BF4E-C060-6212F84C5260}"/>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5A27CAE-50E4-2F25-11FF-F307F75E26F3}"/>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D7A6F74-CC28-065F-4B88-ACC052B7FA5B}"/>
              </a:ext>
            </a:extLst>
          </p:cNvPr>
          <p:cNvSpPr txBox="1"/>
          <p:nvPr/>
        </p:nvSpPr>
        <p:spPr>
          <a:xfrm>
            <a:off x="360000" y="180000"/>
            <a:ext cx="9360000" cy="478080"/>
          </a:xfrm>
          <a:prstGeom prst="rect">
            <a:avLst/>
          </a:prstGeom>
          <a:noFill/>
          <a:ln w="0">
            <a:noFill/>
          </a:ln>
        </p:spPr>
        <p:txBody>
          <a:bodyPr lIns="0" tIns="0" rIns="0" bIns="0" anchor="ctr">
            <a:noAutofit/>
          </a:bodyPr>
          <a:lstStyle/>
          <a:p>
            <a:pPr>
              <a:lnSpc>
                <a:spcPct val="100000"/>
              </a:lnSpc>
            </a:pPr>
            <a:r>
              <a:rPr lang="en-GB" sz="2400" b="1" strike="noStrike" spc="-1" dirty="0">
                <a:latin typeface="Times New Roman"/>
                <a:ea typeface="DejaVu Sans"/>
              </a:rPr>
              <a:t>Main Findings</a:t>
            </a:r>
            <a:endParaRPr lang="en-GB" sz="2400" b="0" strike="noStrike" spc="-1" dirty="0">
              <a:latin typeface="Arial"/>
            </a:endParaRPr>
          </a:p>
        </p:txBody>
      </p:sp>
      <p:sp>
        <p:nvSpPr>
          <p:cNvPr id="9" name="TextBox 8">
            <a:extLst>
              <a:ext uri="{FF2B5EF4-FFF2-40B4-BE49-F238E27FC236}">
                <a16:creationId xmlns:a16="http://schemas.microsoft.com/office/drawing/2014/main" id="{C030CE62-8001-0E5E-EAEE-1F86630478A5}"/>
              </a:ext>
            </a:extLst>
          </p:cNvPr>
          <p:cNvSpPr txBox="1"/>
          <p:nvPr/>
        </p:nvSpPr>
        <p:spPr>
          <a:xfrm>
            <a:off x="1" y="1028412"/>
            <a:ext cx="12072394" cy="4592924"/>
          </a:xfrm>
          <a:prstGeom prst="rect">
            <a:avLst/>
          </a:prstGeom>
          <a:noFill/>
        </p:spPr>
        <p:txBody>
          <a:bodyPr wrap="square">
            <a:spAutoFit/>
          </a:bodyPr>
          <a:lstStyle/>
          <a:p>
            <a:pPr marL="285750" marR="0" indent="-285750" algn="just">
              <a:lnSpc>
                <a:spcPct val="200000"/>
              </a:lnSpc>
              <a:spcAft>
                <a:spcPts val="800"/>
              </a:spcAft>
              <a:buFont typeface="Wingdings" panose="05000000000000000000" pitchFamily="2" charset="2"/>
              <a:buChar char="ü"/>
            </a:pPr>
            <a:r>
              <a:rPr lang="en-US" dirty="0">
                <a:latin typeface="Times New Roman" panose="02020603050405020304" pitchFamily="18" charset="0"/>
                <a:ea typeface="Calibri" panose="020F0502020204030204" pitchFamily="34" charset="0"/>
              </a:rPr>
              <a:t>T</a:t>
            </a:r>
            <a:r>
              <a:rPr lang="en-US" sz="1800" dirty="0">
                <a:effectLst/>
                <a:latin typeface="Times New Roman" panose="02020603050405020304" pitchFamily="18" charset="0"/>
                <a:ea typeface="Calibri" panose="020F0502020204030204" pitchFamily="34" charset="0"/>
              </a:rPr>
              <a:t>here was a significant association between academic level, frequency of use of mobile banking, confidence level on security, experience about customer care support, speed of transaction and satisfaction level with overall mobile banking experience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lnSpc>
                <a:spcPct val="200000"/>
              </a:lnSpc>
              <a:spcAft>
                <a:spcPts val="800"/>
              </a:spcAft>
              <a:buFont typeface="Wingdings" panose="05000000000000000000" pitchFamily="2" charset="2"/>
              <a:buChar char="ü"/>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Graduate students are more likely to be satisfied compared to undergraduate students.</a:t>
            </a:r>
          </a:p>
          <a:p>
            <a:pPr marL="285750" marR="0" indent="-285750" algn="just">
              <a:lnSpc>
                <a:spcPct val="200000"/>
              </a:lnSpc>
              <a:spcAft>
                <a:spcPts val="800"/>
              </a:spcAft>
              <a:buFont typeface="Wingdings" panose="05000000000000000000" pitchFamily="2" charset="2"/>
              <a:buChar char="ü"/>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Students who use mobile banking on a daily basis are more likely to be satisfied compared to students who use rarely.</a:t>
            </a:r>
          </a:p>
          <a:p>
            <a:pPr marL="285750" marR="0" indent="-285750" algn="just">
              <a:lnSpc>
                <a:spcPct val="200000"/>
              </a:lnSpc>
              <a:spcAft>
                <a:spcPts val="800"/>
              </a:spcAft>
              <a:buFont typeface="Wingdings" panose="05000000000000000000" pitchFamily="2" charset="2"/>
              <a:buChar char="ü"/>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Students who use mobile banking weekly are more likely to be satisfied compared to students who use rarely.</a:t>
            </a:r>
          </a:p>
          <a:p>
            <a:pPr marL="285750" marR="0" indent="-285750" algn="just">
              <a:lnSpc>
                <a:spcPct val="200000"/>
              </a:lnSpc>
              <a:spcAft>
                <a:spcPts val="800"/>
              </a:spcAft>
              <a:buFont typeface="Wingdings" panose="05000000000000000000" pitchFamily="2" charset="2"/>
              <a:buChar char="ü"/>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Students who are not confident on security with mobile banking are less likely to be satisfied compared to students who are very confident.</a:t>
            </a:r>
          </a:p>
          <a:p>
            <a:pPr marL="285750" marR="0" indent="-285750" algn="just">
              <a:lnSpc>
                <a:spcPct val="200000"/>
              </a:lnSpc>
              <a:spcAft>
                <a:spcPts val="800"/>
              </a:spcAft>
              <a:buFont typeface="Wingdings" panose="05000000000000000000" pitchFamily="2" charset="2"/>
              <a:buChar char="ü"/>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Students who are somewhat confident on security with mobile banking are times less likely to be satisfied compared to students who are very confident.</a:t>
            </a:r>
          </a:p>
        </p:txBody>
      </p:sp>
      <p:sp>
        <p:nvSpPr>
          <p:cNvPr id="13" name="TextBox 12">
            <a:extLst>
              <a:ext uri="{FF2B5EF4-FFF2-40B4-BE49-F238E27FC236}">
                <a16:creationId xmlns:a16="http://schemas.microsoft.com/office/drawing/2014/main" id="{CA93293D-2856-C8F0-FFB6-6A727C50E95A}"/>
              </a:ext>
            </a:extLst>
          </p:cNvPr>
          <p:cNvSpPr txBox="1"/>
          <p:nvPr/>
        </p:nvSpPr>
        <p:spPr>
          <a:xfrm>
            <a:off x="11620379" y="6136274"/>
            <a:ext cx="5716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13</a:t>
            </a:r>
          </a:p>
        </p:txBody>
      </p:sp>
    </p:spTree>
    <p:extLst>
      <p:ext uri="{BB962C8B-B14F-4D97-AF65-F5344CB8AC3E}">
        <p14:creationId xmlns:p14="http://schemas.microsoft.com/office/powerpoint/2010/main" val="2880711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4BB84-4027-C59A-CA24-4B01169C1F7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F4B57FA-5C0B-A846-3192-675EE861AF26}"/>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CD702A-7850-8FAA-A2CE-DB01609BCA23}"/>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54FAC12-9CC1-EDE8-79FC-89699CB1E31B}"/>
              </a:ext>
            </a:extLst>
          </p:cNvPr>
          <p:cNvSpPr txBox="1"/>
          <p:nvPr/>
        </p:nvSpPr>
        <p:spPr>
          <a:xfrm>
            <a:off x="360000" y="180000"/>
            <a:ext cx="9360000" cy="478080"/>
          </a:xfrm>
          <a:prstGeom prst="rect">
            <a:avLst/>
          </a:prstGeom>
          <a:noFill/>
          <a:ln w="0">
            <a:noFill/>
          </a:ln>
        </p:spPr>
        <p:txBody>
          <a:bodyPr lIns="0" tIns="0" rIns="0" bIns="0" anchor="ctr">
            <a:noAutofit/>
          </a:bodyPr>
          <a:lstStyle/>
          <a:p>
            <a:pPr>
              <a:lnSpc>
                <a:spcPct val="100000"/>
              </a:lnSpc>
            </a:pPr>
            <a:r>
              <a:rPr lang="en-GB" sz="3200" b="1" strike="noStrike" spc="-1" dirty="0">
                <a:latin typeface="Times New Roman"/>
                <a:ea typeface="DejaVu Sans"/>
              </a:rPr>
              <a:t>Further study</a:t>
            </a:r>
            <a:endParaRPr lang="en-GB" sz="3200" b="0" strike="noStrike" spc="-1" dirty="0">
              <a:latin typeface="Arial"/>
            </a:endParaRPr>
          </a:p>
        </p:txBody>
      </p:sp>
      <p:sp>
        <p:nvSpPr>
          <p:cNvPr id="3" name="TextBox 2">
            <a:extLst>
              <a:ext uri="{FF2B5EF4-FFF2-40B4-BE49-F238E27FC236}">
                <a16:creationId xmlns:a16="http://schemas.microsoft.com/office/drawing/2014/main" id="{F37186A3-AD5B-C7FA-8E9E-4F373533B4B4}"/>
              </a:ext>
            </a:extLst>
          </p:cNvPr>
          <p:cNvSpPr txBox="1"/>
          <p:nvPr/>
        </p:nvSpPr>
        <p:spPr>
          <a:xfrm>
            <a:off x="546903" y="1384100"/>
            <a:ext cx="10715263" cy="1777859"/>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sz="1800" dirty="0">
                <a:effectLst/>
                <a:latin typeface="Times New Roman" panose="02020603050405020304" pitchFamily="18" charset="0"/>
                <a:ea typeface="Calibri" panose="020F0502020204030204" pitchFamily="34" charset="0"/>
              </a:rPr>
              <a:t>Researcher should conduct this research study in a large part of population</a:t>
            </a:r>
          </a:p>
          <a:p>
            <a:pPr marL="286470" indent="-285750">
              <a:lnSpc>
                <a:spcPct val="200000"/>
              </a:lnSpc>
              <a:spcAft>
                <a:spcPts val="848"/>
              </a:spcAft>
              <a:buClr>
                <a:srgbClr val="000000"/>
              </a:buClr>
              <a:buFont typeface="Wingdings" panose="05000000000000000000" pitchFamily="2" charset="2"/>
              <a:buChar char="Ø"/>
            </a:pPr>
            <a:r>
              <a:rPr lang="en-GB" sz="1800" b="0" strike="noStrike" spc="-1" dirty="0">
                <a:solidFill>
                  <a:srgbClr val="1C1C1C"/>
                </a:solidFill>
                <a:latin typeface="Times New Roman"/>
                <a:ea typeface="DejaVu Sans"/>
              </a:rPr>
              <a:t>To consider more related factors for finding the predictors of satisfaction level with mobile banking.</a:t>
            </a:r>
            <a:endParaRPr lang="en-GB" sz="1800" b="0" strike="noStrike" spc="-1" dirty="0">
              <a:latin typeface="Arial"/>
            </a:endParaRPr>
          </a:p>
          <a:p>
            <a:pPr marL="286470" indent="-285750">
              <a:lnSpc>
                <a:spcPct val="200000"/>
              </a:lnSpc>
              <a:spcAft>
                <a:spcPts val="848"/>
              </a:spcAft>
              <a:buClr>
                <a:srgbClr val="000000"/>
              </a:buClr>
              <a:buFont typeface="Wingdings" panose="05000000000000000000" pitchFamily="2" charset="2"/>
              <a:buChar char="Ø"/>
            </a:pPr>
            <a:r>
              <a:rPr lang="en-GB" sz="1800" b="0" strike="noStrike" spc="-1" dirty="0">
                <a:solidFill>
                  <a:srgbClr val="1C1C1C"/>
                </a:solidFill>
                <a:latin typeface="Times New Roman"/>
                <a:ea typeface="DejaVu Sans"/>
              </a:rPr>
              <a:t> To apply advanced statistical model in order to find more  accurate results</a:t>
            </a:r>
            <a:endParaRPr lang="en-US" dirty="0"/>
          </a:p>
        </p:txBody>
      </p:sp>
      <p:sp>
        <p:nvSpPr>
          <p:cNvPr id="4" name="TextBox 3">
            <a:extLst>
              <a:ext uri="{FF2B5EF4-FFF2-40B4-BE49-F238E27FC236}">
                <a16:creationId xmlns:a16="http://schemas.microsoft.com/office/drawing/2014/main" id="{B56CEA18-1BDF-F99E-4F53-13405E010900}"/>
              </a:ext>
            </a:extLst>
          </p:cNvPr>
          <p:cNvSpPr txBox="1"/>
          <p:nvPr/>
        </p:nvSpPr>
        <p:spPr>
          <a:xfrm>
            <a:off x="11563109" y="6226175"/>
            <a:ext cx="66093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14</a:t>
            </a:r>
          </a:p>
        </p:txBody>
      </p:sp>
    </p:spTree>
    <p:extLst>
      <p:ext uri="{BB962C8B-B14F-4D97-AF65-F5344CB8AC3E}">
        <p14:creationId xmlns:p14="http://schemas.microsoft.com/office/powerpoint/2010/main" val="1614768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523D2-B8EB-B132-3A62-1E2C729E395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4CAE726-0564-E266-3A31-6026DE5BF67B}"/>
              </a:ext>
            </a:extLst>
          </p:cNvPr>
          <p:cNvSpPr/>
          <p:nvPr/>
        </p:nvSpPr>
        <p:spPr>
          <a:xfrm>
            <a:off x="0" y="0"/>
            <a:ext cx="12192000" cy="84841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3D2CFAF-FF60-27B2-2359-D67386CF20E1}"/>
              </a:ext>
            </a:extLst>
          </p:cNvPr>
          <p:cNvSpPr/>
          <p:nvPr/>
        </p:nvSpPr>
        <p:spPr>
          <a:xfrm>
            <a:off x="0" y="6597939"/>
            <a:ext cx="12192000" cy="25698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9B43026-4633-3DC9-1FFE-C62F1712721D}"/>
              </a:ext>
            </a:extLst>
          </p:cNvPr>
          <p:cNvSpPr txBox="1"/>
          <p:nvPr/>
        </p:nvSpPr>
        <p:spPr>
          <a:xfrm>
            <a:off x="360000" y="180000"/>
            <a:ext cx="9360000" cy="478080"/>
          </a:xfrm>
          <a:prstGeom prst="rect">
            <a:avLst/>
          </a:prstGeom>
          <a:noFill/>
          <a:ln w="0">
            <a:noFill/>
          </a:ln>
        </p:spPr>
        <p:txBody>
          <a:bodyPr lIns="0" tIns="0" rIns="0" bIns="0" anchor="ctr">
            <a:noAutofit/>
          </a:bodyPr>
          <a:lstStyle/>
          <a:p>
            <a:pPr>
              <a:lnSpc>
                <a:spcPct val="100000"/>
              </a:lnSpc>
            </a:pPr>
            <a:r>
              <a:rPr lang="en-GB" sz="3200" b="1" strike="noStrike" spc="-1" dirty="0">
                <a:latin typeface="Times New Roman"/>
                <a:ea typeface="DejaVu Sans"/>
              </a:rPr>
              <a:t>Key references</a:t>
            </a:r>
            <a:endParaRPr lang="en-GB" sz="3200" b="0" strike="noStrike" spc="-1" dirty="0">
              <a:latin typeface="Arial"/>
            </a:endParaRPr>
          </a:p>
        </p:txBody>
      </p:sp>
      <p:sp>
        <p:nvSpPr>
          <p:cNvPr id="4" name="TextBox 3">
            <a:extLst>
              <a:ext uri="{FF2B5EF4-FFF2-40B4-BE49-F238E27FC236}">
                <a16:creationId xmlns:a16="http://schemas.microsoft.com/office/drawing/2014/main" id="{ECF1AD3C-90C0-1891-F8EA-AD73DE6145E0}"/>
              </a:ext>
            </a:extLst>
          </p:cNvPr>
          <p:cNvSpPr txBox="1"/>
          <p:nvPr/>
        </p:nvSpPr>
        <p:spPr>
          <a:xfrm>
            <a:off x="198699" y="1472337"/>
            <a:ext cx="11794601" cy="4039119"/>
          </a:xfrm>
          <a:prstGeom prst="rect">
            <a:avLst/>
          </a:prstGeom>
          <a:noFill/>
        </p:spPr>
        <p:txBody>
          <a:bodyPr wrap="square">
            <a:spAutoFit/>
          </a:bodyPr>
          <a:lstStyle/>
          <a:p>
            <a:pPr marL="0" marR="0" indent="-304800">
              <a:lnSpc>
                <a:spcPct val="107000"/>
              </a:lnSpc>
              <a:spcAft>
                <a:spcPts val="800"/>
              </a:spcAft>
              <a:buFont typeface="Wingdings" panose="05000000000000000000" pitchFamily="2" charset="2"/>
              <a:buChar char="ü"/>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Akter, R. (2023). A Study on Mobile Banking in Bangladesh. </a:t>
            </a:r>
            <a:r>
              <a:rPr lang="en-US" sz="1800" i="1" kern="100" dirty="0">
                <a:effectLst/>
                <a:latin typeface="Times New Roman" panose="02020603050405020304" pitchFamily="18" charset="0"/>
                <a:ea typeface="Times New Roman" panose="02020603050405020304" pitchFamily="18" charset="0"/>
                <a:cs typeface="Times New Roman" panose="02020603050405020304" pitchFamily="18" charset="0"/>
              </a:rPr>
              <a:t>Cross Current International Journal of Economics, Management and Media Studies</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1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(02), 39–43. https://doi.org/10.36344/ccijemms.2023.v05i02.005</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304800">
              <a:lnSpc>
                <a:spcPct val="107000"/>
              </a:lnSpc>
              <a:spcAft>
                <a:spcPts val="800"/>
              </a:spcAft>
              <a:buFont typeface="Wingdings" panose="05000000000000000000" pitchFamily="2" charset="2"/>
              <a:buChar char="ü"/>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Islam, N., Ameen, M., Mustafi, A., Rahman, M. N., </a:t>
            </a:r>
            <a:r>
              <a:rPr lang="en-US" sz="1800" kern="100" dirty="0" err="1">
                <a:effectLst/>
                <a:latin typeface="Times New Roman" panose="02020603050405020304" pitchFamily="18" charset="0"/>
                <a:ea typeface="Times New Roman" panose="02020603050405020304" pitchFamily="18" charset="0"/>
                <a:cs typeface="Times New Roman" panose="02020603050405020304" pitchFamily="18" charset="0"/>
              </a:rPr>
              <a:t>Nower</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N., Mostafa, A., Rafi, M., Tasnim, N., Hassan, R., &amp; Afrin, S. (2019). </a:t>
            </a:r>
            <a:r>
              <a:rPr lang="en-US" sz="1800" i="1" kern="100" dirty="0">
                <a:effectLst/>
                <a:latin typeface="Times New Roman" panose="02020603050405020304" pitchFamily="18" charset="0"/>
                <a:ea typeface="Times New Roman" panose="02020603050405020304" pitchFamily="18" charset="0"/>
                <a:cs typeface="Times New Roman" panose="02020603050405020304" pitchFamily="18" charset="0"/>
              </a:rPr>
              <a:t>Factors Affecting Customers’ Experience in Mobile Banking of Bangladesh</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304800">
              <a:lnSpc>
                <a:spcPct val="107000"/>
              </a:lnSpc>
              <a:spcAft>
                <a:spcPts val="800"/>
              </a:spcAft>
              <a:buFont typeface="Wingdings" panose="05000000000000000000" pitchFamily="2" charset="2"/>
              <a:buChar char="ü"/>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Hai, M. A., &amp; Rahman, M. M. (2016). Measuring the Satisfaction Levels of Mobile Financial Services Users in Bangladesh: An Empirical Study. </a:t>
            </a:r>
            <a:r>
              <a:rPr lang="en-US" sz="1800" i="1" kern="100" dirty="0">
                <a:effectLst/>
                <a:latin typeface="Times New Roman" panose="02020603050405020304" pitchFamily="18" charset="0"/>
                <a:ea typeface="Times New Roman" panose="02020603050405020304" pitchFamily="18" charset="0"/>
                <a:cs typeface="Times New Roman" panose="02020603050405020304" pitchFamily="18" charset="0"/>
              </a:rPr>
              <a:t>Https://Services.Igi-Global.Com/Resolvedoi/Resolve.Aspx?Doi=10.4018/IJOM.2016010102</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100" dirty="0">
                <a:effectLst/>
                <a:latin typeface="Times New Roman" panose="02020603050405020304" pitchFamily="18" charset="0"/>
                <a:ea typeface="Times New Roman" panose="02020603050405020304" pitchFamily="18" charset="0"/>
                <a:cs typeface="Times New Roman" panose="02020603050405020304" pitchFamily="18" charset="0"/>
              </a:rPr>
              <a:t>6</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24–33. https://doi.org/10.4018/IJOM.2016010102</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304800">
              <a:lnSpc>
                <a:spcPct val="107000"/>
              </a:lnSpc>
              <a:spcAft>
                <a:spcPts val="800"/>
              </a:spcAft>
              <a:buFont typeface="Wingdings" panose="05000000000000000000" pitchFamily="2" charset="2"/>
              <a:buChar char="ü"/>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Dahlberg, T., Guo, J., &amp; </a:t>
            </a:r>
            <a:r>
              <a:rPr lang="en-US" sz="1800" kern="100" dirty="0" err="1">
                <a:effectLst/>
                <a:latin typeface="Times New Roman" panose="02020603050405020304" pitchFamily="18" charset="0"/>
                <a:ea typeface="Times New Roman" panose="02020603050405020304" pitchFamily="18" charset="0"/>
                <a:cs typeface="Times New Roman" panose="02020603050405020304" pitchFamily="18" charset="0"/>
              </a:rPr>
              <a:t>Ondrus</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J. (2015). A critical review of mobile payment research. </a:t>
            </a:r>
            <a:r>
              <a:rPr lang="en-US" sz="1800" i="1" kern="100" dirty="0">
                <a:effectLst/>
                <a:latin typeface="Times New Roman" panose="02020603050405020304" pitchFamily="18" charset="0"/>
                <a:ea typeface="Times New Roman" panose="02020603050405020304" pitchFamily="18" charset="0"/>
                <a:cs typeface="Times New Roman" panose="02020603050405020304" pitchFamily="18" charset="0"/>
              </a:rPr>
              <a:t>Electronic Commerce Research and Applications</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100" dirty="0">
                <a:effectLst/>
                <a:latin typeface="Times New Roman" panose="02020603050405020304" pitchFamily="18" charset="0"/>
                <a:ea typeface="Times New Roman" panose="02020603050405020304" pitchFamily="18" charset="0"/>
                <a:cs typeface="Times New Roman" panose="02020603050405020304" pitchFamily="18" charset="0"/>
              </a:rPr>
              <a:t>14</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(5), 265–284. https://doi.org/10.1016/J.ELERAP.2015.07.006</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304800">
              <a:lnSpc>
                <a:spcPct val="107000"/>
              </a:lnSpc>
              <a:spcAft>
                <a:spcPts val="800"/>
              </a:spcAft>
              <a:buFont typeface="Wingdings" panose="05000000000000000000" pitchFamily="2" charset="2"/>
              <a:buChar char="ü"/>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Shaikh, A. A., &amp; </a:t>
            </a:r>
            <a:r>
              <a:rPr lang="en-US" sz="1800" kern="100" dirty="0" err="1">
                <a:effectLst/>
                <a:latin typeface="Times New Roman" panose="02020603050405020304" pitchFamily="18" charset="0"/>
                <a:ea typeface="Times New Roman" panose="02020603050405020304" pitchFamily="18" charset="0"/>
                <a:cs typeface="Times New Roman" panose="02020603050405020304" pitchFamily="18" charset="0"/>
              </a:rPr>
              <a:t>Karjaluoto</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H. (2015). Mobile banking adoption: A literature review. </a:t>
            </a:r>
            <a:r>
              <a:rPr lang="en-US" sz="1800" i="1" kern="100" dirty="0">
                <a:effectLst/>
                <a:latin typeface="Times New Roman" panose="02020603050405020304" pitchFamily="18" charset="0"/>
                <a:ea typeface="Times New Roman" panose="02020603050405020304" pitchFamily="18" charset="0"/>
                <a:cs typeface="Times New Roman" panose="02020603050405020304" pitchFamily="18" charset="0"/>
              </a:rPr>
              <a:t>Telematics and Informatics</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100" dirty="0">
                <a:effectLst/>
                <a:latin typeface="Times New Roman" panose="02020603050405020304" pitchFamily="18" charset="0"/>
                <a:ea typeface="Times New Roman" panose="02020603050405020304" pitchFamily="18" charset="0"/>
                <a:cs typeface="Times New Roman" panose="02020603050405020304" pitchFamily="18" charset="0"/>
              </a:rPr>
              <a:t>32</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129–142. https://doi.org/10.1016/J.TELE.2014.05.003</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47224B0-A226-D346-6D0C-EF027E6DBABD}"/>
              </a:ext>
            </a:extLst>
          </p:cNvPr>
          <p:cNvSpPr txBox="1"/>
          <p:nvPr/>
        </p:nvSpPr>
        <p:spPr>
          <a:xfrm>
            <a:off x="11632557" y="6226175"/>
            <a:ext cx="59149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15</a:t>
            </a:r>
          </a:p>
        </p:txBody>
      </p:sp>
    </p:spTree>
    <p:extLst>
      <p:ext uri="{BB962C8B-B14F-4D97-AF65-F5344CB8AC3E}">
        <p14:creationId xmlns:p14="http://schemas.microsoft.com/office/powerpoint/2010/main" val="2505741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DDAC2B-F54A-6D64-2F46-ECB44B5ADB6A}"/>
              </a:ext>
            </a:extLst>
          </p:cNvPr>
          <p:cNvSpPr txBox="1"/>
          <p:nvPr/>
        </p:nvSpPr>
        <p:spPr>
          <a:xfrm>
            <a:off x="4058326" y="1348032"/>
            <a:ext cx="4075347" cy="1200329"/>
          </a:xfrm>
          <a:prstGeom prst="rect">
            <a:avLst/>
          </a:prstGeom>
          <a:noFill/>
        </p:spPr>
        <p:txBody>
          <a:bodyPr wrap="none" rtlCol="0">
            <a:spAutoFit/>
          </a:bodyPr>
          <a:lstStyle/>
          <a:p>
            <a:pPr algn="ctr"/>
            <a:r>
              <a:rPr lang="en-US" sz="3600" b="1" dirty="0">
                <a:latin typeface="Times New Roman" panose="02020603050405020304" pitchFamily="18" charset="0"/>
                <a:cs typeface="Times New Roman" panose="02020603050405020304" pitchFamily="18" charset="0"/>
              </a:rPr>
              <a:t>Thank You </a:t>
            </a:r>
          </a:p>
          <a:p>
            <a:pPr algn="ctr"/>
            <a:r>
              <a:rPr lang="en-US" sz="3600" b="1" dirty="0">
                <a:latin typeface="Times New Roman" panose="02020603050405020304" pitchFamily="18" charset="0"/>
                <a:cs typeface="Times New Roman" panose="02020603050405020304" pitchFamily="18" charset="0"/>
              </a:rPr>
              <a:t>For Your Attention!</a:t>
            </a:r>
          </a:p>
        </p:txBody>
      </p:sp>
      <p:pic>
        <p:nvPicPr>
          <p:cNvPr id="3" name="Picture 2">
            <a:extLst>
              <a:ext uri="{FF2B5EF4-FFF2-40B4-BE49-F238E27FC236}">
                <a16:creationId xmlns:a16="http://schemas.microsoft.com/office/drawing/2014/main" id="{3A91DCDF-188F-595E-CE57-3FFC36455417}"/>
              </a:ext>
            </a:extLst>
          </p:cNvPr>
          <p:cNvPicPr/>
          <p:nvPr/>
        </p:nvPicPr>
        <p:blipFill>
          <a:blip r:embed="rId2"/>
          <a:srcRect l="-375" t="56974"/>
          <a:stretch/>
        </p:blipFill>
        <p:spPr>
          <a:xfrm>
            <a:off x="2734155" y="2800500"/>
            <a:ext cx="6723687" cy="2170685"/>
          </a:xfrm>
          <a:prstGeom prst="rect">
            <a:avLst/>
          </a:prstGeom>
          <a:ln w="18000">
            <a:noFill/>
          </a:ln>
        </p:spPr>
      </p:pic>
      <p:sp>
        <p:nvSpPr>
          <p:cNvPr id="4" name="TextBox 3">
            <a:extLst>
              <a:ext uri="{FF2B5EF4-FFF2-40B4-BE49-F238E27FC236}">
                <a16:creationId xmlns:a16="http://schemas.microsoft.com/office/drawing/2014/main" id="{C9708837-532E-D33C-7652-84238AF0BF9E}"/>
              </a:ext>
            </a:extLst>
          </p:cNvPr>
          <p:cNvSpPr txBox="1"/>
          <p:nvPr/>
        </p:nvSpPr>
        <p:spPr>
          <a:xfrm>
            <a:off x="11620982" y="6226175"/>
            <a:ext cx="60306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1302</Words>
  <Application>Microsoft Office PowerPoint</Application>
  <PresentationFormat>Widescreen</PresentationFormat>
  <Paragraphs>145</Paragraphs>
  <Slides>16</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5" baseType="lpstr">
      <vt:lpstr>Arial</vt:lpstr>
      <vt:lpstr>Calibri</vt:lpstr>
      <vt:lpstr>Calibri Light</vt:lpstr>
      <vt:lpstr>Cambria Math</vt:lpstr>
      <vt:lpstr>OpenSymbol</vt:lpstr>
      <vt:lpstr>Times New Roman</vt:lpstr>
      <vt:lpstr>Wingdings</vt:lpstr>
      <vt:lpstr>Office Theme</vt:lpstr>
      <vt:lpstr>Microsoft Word Document</vt:lpstr>
      <vt:lpstr>PowerPoint Presentation</vt:lpstr>
      <vt:lpstr>PowerPoint Presentation</vt:lpstr>
      <vt:lpstr>PowerPoint Presentation</vt:lpstr>
      <vt:lpstr>PowerPoint Presentation</vt:lpstr>
      <vt:lpstr>PowerPoint Presentation</vt:lpstr>
      <vt:lpstr>Research gap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Sojib Hossain</dc:creator>
  <cp:lastModifiedBy>Sojib Hossain</cp:lastModifiedBy>
  <cp:revision>2</cp:revision>
  <dcterms:created xsi:type="dcterms:W3CDTF">2024-11-25T15:27:32Z</dcterms:created>
  <dcterms:modified xsi:type="dcterms:W3CDTF">2024-11-25T17:19:53Z</dcterms:modified>
</cp:coreProperties>
</file>